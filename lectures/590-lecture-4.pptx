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n8iPj6qka3o" TargetMode="External" /><Relationship Id="rId3" Type="http://schemas.openxmlformats.org/officeDocument/2006/relationships/hyperlink" Target="https://www.youtube.com/watch?v=YBzCwzvudv0"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jan.ucc.nau.edu/~sj6/Spivak%20CanTheSubalternSpeak.pdf"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rxiv.org/abs/2510.01171"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jan.ucc.nau.edu/~sj6/Spivak%20CanTheSubalternSpeak.pdf"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590 Lecture 4 -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We’ve Covered</a:t>
            </a:r>
          </a:p>
          <a:p>
            <a:pPr lvl="0"/>
            <a:r>
              <a:rPr/>
              <a:t>Week 1: Research Topic &amp; Question</a:t>
            </a:r>
          </a:p>
          <a:p>
            <a:pPr lvl="0"/>
            <a:r>
              <a:rPr/>
              <a:t>Week 2: Method &amp; Recipe for the Literature Review</a:t>
            </a:r>
          </a:p>
          <a:p>
            <a:pPr lvl="0"/>
            <a:r>
              <a:rPr/>
              <a:t>Week 3: Vibe Scholarship - Applying AI to Close &amp; Distant Reading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This Week</a:t>
            </a:r>
          </a:p>
          <a:p>
            <a:pPr lvl="0"/>
            <a:r>
              <a:rPr/>
              <a:t>What I had planned:</a:t>
            </a:r>
          </a:p>
          <a:p>
            <a:pPr lvl="1"/>
            <a:r>
              <a:rPr/>
              <a:t>Finding Your Scholarly Voice: Peers / Audience / Venue / Field</a:t>
            </a:r>
          </a:p>
          <a:p>
            <a:pPr lvl="1"/>
            <a:r>
              <a:rPr/>
              <a:t>Drafting a section of your review in a </a:t>
            </a:r>
            <a:r>
              <a:rPr i="1"/>
              <a:t>scientific</a:t>
            </a:r>
            <a:r>
              <a:rPr/>
              <a:t> and </a:t>
            </a:r>
            <a:r>
              <a:rPr i="1"/>
              <a:t>humanities</a:t>
            </a:r>
            <a:r>
              <a:rPr/>
              <a:t> mode</a:t>
            </a:r>
          </a:p>
          <a:p>
            <a:pPr lvl="1"/>
            <a:r>
              <a:rPr/>
              <a:t>Literature Review Sample: In the Scientific Mode</a:t>
            </a:r>
          </a:p>
          <a:p>
            <a:pPr lvl="0"/>
            <a:r>
              <a:rPr/>
              <a:t>What we’ll actually do:</a:t>
            </a:r>
          </a:p>
          <a:p>
            <a:pPr lvl="1"/>
            <a:r>
              <a:rPr/>
              <a:t>Activity 1: How do the Humanities engage with Literature? Case study of “Can the Subaltern Speak?”</a:t>
            </a:r>
          </a:p>
          <a:p>
            <a:pPr lvl="1"/>
            <a:r>
              <a:rPr/>
              <a:t>Activity 2: Discuss Structuration and Metadiscourse</a:t>
            </a:r>
          </a:p>
          <a:p>
            <a:pPr lvl="1"/>
            <a:r>
              <a:rPr/>
              <a:t>Activity 3: “Vibe Scholarship” - Fast Drafting Review</a:t>
            </a:r>
          </a:p>
          <a:p>
            <a:pPr lvl="2"/>
            <a:r>
              <a:rPr/>
              <a:t>In the Scientific Mode</a:t>
            </a:r>
          </a:p>
          <a:p>
            <a:pPr lvl="2"/>
            <a:r>
              <a:rPr/>
              <a:t>In the Humanities Mode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Keep AI Handy…</a:t>
            </a:r>
          </a:p>
          <a:p>
            <a:pPr lvl="0"/>
            <a:r>
              <a:rPr/>
              <a:t>As we go, it’ll be helpful to have your AI of choice open</a:t>
            </a:r>
          </a:p>
          <a:p>
            <a:pPr lvl="0"/>
            <a:r>
              <a:rPr/>
              <a:t>Consider using an AI you’re less familiar with</a:t>
            </a:r>
          </a:p>
          <a:p>
            <a:pPr lvl="0"/>
            <a:r>
              <a:rPr/>
              <a:t>Free versions ought to be fine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Slow Reading with AI: Spivak, </a:t>
            </a:r>
            <a:r>
              <a:rPr b="1" i="1"/>
              <a:t>Can the Subaltern Speak?</a:t>
            </a:r>
          </a:p>
          <a:p>
            <a:pPr lvl="0"/>
            <a:r>
              <a:rPr/>
              <a:t>Why? Complex example of a humanities text. Presumes knowledge of Western philosophy, political debates around representation</a:t>
            </a:r>
          </a:p>
          <a:p>
            <a:pPr lvl="0"/>
            <a:r>
              <a:rPr/>
              <a:t>“Classic” contribution to decolonial, feminist debates. But long, hard to parse / summarize</a:t>
            </a:r>
          </a:p>
          <a:p>
            <a:pPr lvl="1"/>
            <a:r>
              <a:rPr/>
              <a:t>Spivak often criticized for performative contradiction:</a:t>
            </a:r>
          </a:p>
          <a:p>
            <a:pPr lvl="2"/>
            <a:r>
              <a:rPr/>
              <a:t>Argues for universalization of education, including the most excluded (the rural, illiterate, women) - the “subaltern”</a:t>
            </a:r>
          </a:p>
          <a:p>
            <a:pPr lvl="2"/>
            <a:r>
              <a:rPr/>
              <a:t>But references US academia, French &amp; German philosophy, English colonization, old &amp; new Indian scholarship… who can understand her?</a:t>
            </a:r>
          </a:p>
          <a:p>
            <a:pPr lvl="0"/>
            <a:r>
              <a:rPr/>
              <a:t>So… good case study for AI</a:t>
            </a:r>
          </a:p>
          <a:p>
            <a:pPr lvl="0"/>
            <a:r>
              <a:rPr/>
              <a:t>Use the Google Doc to make collective notes as we go</a:t>
            </a:r>
          </a:p>
          <a:p>
            <a:pPr lvl="1"/>
            <a:r>
              <a:rPr/>
              <a:t>Cyber-social Reading? ‘Vibe Scholarship’ in action?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Who is Spivak?</a:t>
            </a:r>
          </a:p>
          <a:p>
            <a:pPr lvl="0" indent="0" marL="0">
              <a:buNone/>
            </a:pPr>
            <a:r>
              <a:rPr>
                <a:hlinkClick r:id="rId2"/>
              </a:rPr>
              <a:t>Message from Gayatri Chakravorty Spivak -THE 2012 KYOTO PRIZE - YouTube</a:t>
            </a:r>
          </a:p>
          <a:p>
            <a:pPr lvl="0" indent="0" marL="0">
              <a:buNone/>
            </a:pPr>
            <a:r>
              <a:rPr>
                <a:hlinkClick r:id="rId3"/>
              </a:rPr>
              <a:t>An Aesthetic Education in the Era of Globalization – Gayatri Spivak - YouTube</a:t>
            </a:r>
          </a:p>
          <a:p>
            <a:pPr lvl="0"/>
            <a:r>
              <a:rPr/>
              <a:t>Hybrid Intellectual:</a:t>
            </a:r>
          </a:p>
          <a:p>
            <a:pPr lvl="1"/>
            <a:r>
              <a:rPr/>
              <a:t>Born and educated in India</a:t>
            </a:r>
          </a:p>
          <a:p>
            <a:pPr lvl="1"/>
            <a:r>
              <a:rPr/>
              <a:t>Higher ed, later career in the US</a:t>
            </a:r>
          </a:p>
          <a:p>
            <a:pPr lvl="1"/>
            <a:r>
              <a:rPr/>
              <a:t>But a </a:t>
            </a:r>
            <a:r>
              <a:rPr i="1"/>
              <a:t>Europeanist</a:t>
            </a:r>
            <a:r>
              <a:rPr/>
              <a:t> - translated </a:t>
            </a:r>
            <a:r>
              <a:rPr i="1"/>
              <a:t>Of Grammatology</a:t>
            </a:r>
            <a:r>
              <a:rPr/>
              <a:t> by Jacques Derrida (1971?)</a:t>
            </a:r>
          </a:p>
          <a:p>
            <a:pPr lvl="1"/>
            <a:r>
              <a:rPr/>
              <a:t>Return to India - the idea of the </a:t>
            </a:r>
            <a:r>
              <a:rPr i="1"/>
              <a:t>subaltern</a:t>
            </a:r>
            <a:r>
              <a:rPr/>
              <a:t> in education</a:t>
            </a:r>
          </a:p>
          <a:p>
            <a:pPr lvl="0"/>
            <a:r>
              <a:rPr/>
              <a:t>Concerned with the question and meaning of </a:t>
            </a:r>
            <a:r>
              <a:rPr i="1"/>
              <a:t>representation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Can the subaltern speak?</a:t>
            </a:r>
          </a:p>
          <a:p>
            <a:pPr lvl="0" indent="0" marL="0">
              <a:buNone/>
            </a:pPr>
            <a:r>
              <a:rPr/>
              <a:t>Spivak, G. C. (2023). . In </a:t>
            </a:r>
            <a:r>
              <a:rPr i="1"/>
              <a:t>Imperialism</a:t>
            </a:r>
            <a:r>
              <a:rPr/>
              <a:t> (pp. 171-219). Routledge.</a:t>
            </a:r>
          </a:p>
          <a:p>
            <a:pPr lvl="0" indent="0" marL="0">
              <a:buNone/>
            </a:pPr>
            <a:r>
              <a:rPr>
                <a:hlinkClick r:id="rId2"/>
              </a:rPr>
              <a:t>jan.ucc.nau.edu</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Group Reading with AI: Some questions (but develop your own)</a:t>
            </a:r>
          </a:p>
          <a:p>
            <a:pPr lvl="0"/>
            <a:r>
              <a:rPr/>
              <a:t>What is “subaltern”? Why this term?</a:t>
            </a:r>
          </a:p>
          <a:p>
            <a:pPr lvl="0"/>
            <a:r>
              <a:rPr/>
              <a:t>What is Spivak </a:t>
            </a:r>
            <a:r>
              <a:rPr i="1"/>
              <a:t>doing</a:t>
            </a:r>
            <a:r>
              <a:rPr/>
              <a:t> exactly with her literature?</a:t>
            </a:r>
          </a:p>
          <a:p>
            <a:pPr lvl="1"/>
            <a:r>
              <a:rPr i="1"/>
              <a:t>Contra</a:t>
            </a:r>
            <a:r>
              <a:rPr/>
              <a:t> Foucault and Deleuze? Why? And why use Marx against them?</a:t>
            </a:r>
          </a:p>
          <a:p>
            <a:pPr lvl="1"/>
            <a:r>
              <a:rPr/>
              <a:t>Who else does Spivak assemble in what we might call the “drama” that she stages?</a:t>
            </a:r>
            <a:br/>
          </a:p>
          <a:p>
            <a:pPr lvl="1"/>
            <a:r>
              <a:rPr/>
              <a:t>Why no (or few) US scholars? Who are the key French and German figures in her analysis?</a:t>
            </a:r>
          </a:p>
          <a:p>
            <a:pPr lvl="1"/>
            <a:r>
              <a:rPr/>
              <a:t>Who are the Indian scholars, and how are these voices mobilized?</a:t>
            </a:r>
          </a:p>
          <a:p>
            <a:pPr lvl="0"/>
            <a:r>
              <a:rPr/>
              <a:t>What is the significance of the two German translations of representation: </a:t>
            </a:r>
            <a:r>
              <a:rPr i="1"/>
              <a:t>Vorstellung</a:t>
            </a:r>
            <a:r>
              <a:rPr/>
              <a:t> and </a:t>
            </a:r>
            <a:r>
              <a:rPr i="1"/>
              <a:t>Darstellung</a:t>
            </a:r>
            <a: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key quote - what does it mean?</a:t>
            </a:r>
          </a:p>
          <a:p>
            <a:pPr lvl="0" indent="0" marL="1270000">
              <a:buNone/>
            </a:pPr>
            <a:r>
              <a:rPr sz="2000"/>
              <a:t>Conversely, invocations of ‘libidinal economy’ and desire as the determining interest, combined with the practical politics of the oppressed (under socialized capital) ‘speaking for themselves’, restore the category of the sovereign subject within the theory that seems most to question it.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Prompting ideas</a:t>
            </a:r>
          </a:p>
          <a:p>
            <a:pPr lvl="0"/>
            <a:r>
              <a:rPr/>
              <a:t>“Produce an (abstractive / extractive) (critical / descriptive) summary”</a:t>
            </a:r>
          </a:p>
          <a:p>
            <a:pPr lvl="0"/>
            <a:r>
              <a:rPr/>
              <a:t>“Identify the latent structure of the text”</a:t>
            </a:r>
          </a:p>
          <a:p>
            <a:pPr lvl="0"/>
            <a:r>
              <a:rPr/>
              <a:t>“List the key thinkers Spivak invokes - and tell us about her relationship to them”</a:t>
            </a:r>
          </a:p>
          <a:p>
            <a:pPr lvl="1"/>
            <a:r>
              <a:rPr/>
              <a:t>Develop a conceptual map?</a:t>
            </a:r>
          </a:p>
          <a:p>
            <a:pPr lvl="0"/>
            <a:r>
              <a:rPr/>
              <a:t>“Find the most obscure passages or paragraphs”</a:t>
            </a:r>
          </a:p>
          <a:p>
            <a:pPr lvl="1"/>
            <a:r>
              <a:rPr/>
              <a:t>then “Read line-by-line” (for a given paragraph)</a:t>
            </a:r>
          </a:p>
          <a:p>
            <a:pPr lvl="0"/>
            <a:r>
              <a:rPr/>
              <a:t>“Identify and explain German / French / Hindi terms”</a:t>
            </a:r>
          </a:p>
          <a:p>
            <a:pPr lvl="0"/>
            <a:r>
              <a:rPr/>
              <a:t>“Describe the influence of ‘Can the Subaltern Speak’”</a:t>
            </a:r>
          </a:p>
          <a:p>
            <a:pPr lvl="0"/>
            <a:r>
              <a:rPr/>
              <a:t>“What would Foucault or Deleuze say in response?”</a:t>
            </a:r>
            <a:br/>
          </a:p>
          <a:p>
            <a:pPr lvl="0"/>
            <a:r>
              <a:rPr/>
              <a:t>etc. etc.</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Takeaways?</a:t>
            </a:r>
          </a:p>
          <a:p>
            <a:pPr lvl="0"/>
            <a:r>
              <a:rPr/>
              <a:t>Can AI help us with </a:t>
            </a:r>
            <a:r>
              <a:rPr i="1"/>
              <a:t>slow</a:t>
            </a:r>
            <a:r>
              <a:rPr/>
              <a:t>, </a:t>
            </a:r>
            <a:r>
              <a:rPr i="1"/>
              <a:t>close</a:t>
            </a:r>
            <a:r>
              <a:rPr/>
              <a:t>, </a:t>
            </a:r>
            <a:r>
              <a:rPr i="1"/>
              <a:t>deep</a:t>
            </a:r>
            <a:r>
              <a:rPr/>
              <a:t> reading? Can it help us read </a:t>
            </a:r>
            <a:r>
              <a:rPr i="1"/>
              <a:t>more</a:t>
            </a:r>
            <a:r>
              <a:rPr/>
              <a:t> than the text before us?</a:t>
            </a:r>
          </a:p>
          <a:p>
            <a:pPr lvl="0"/>
            <a:r>
              <a:rPr/>
              <a:t>Think of AI as “hypertext 2.0”? “Cybertext”? Palimsestic reading (the texts behind the text)?</a:t>
            </a:r>
          </a:p>
          <a:p>
            <a:pPr lvl="0"/>
            <a:r>
              <a:rPr/>
              <a:t>If we think of terms like intertextuality, autopoesis and Derrida’s famous aphorism (first translated by Spivak) “There is nothing outside the text” - was poststructuralism (Derrida, Spivak) correct?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Structuring Your Literature Review</a:t>
            </a:r>
          </a:p>
          <a:p>
            <a:pPr lvl="0" indent="0" marL="0">
              <a:buNone/>
            </a:pPr>
            <a:r>
              <a:rPr/>
              <a:t>Pick a </a:t>
            </a:r>
            <a:r>
              <a:rPr b="1"/>
              <a:t>principle</a:t>
            </a:r>
            <a:r>
              <a:rPr/>
              <a:t>: - General &gt; Specific – can confirm but also </a:t>
            </a:r>
            <a:r>
              <a:rPr b="1"/>
              <a:t>contrast</a:t>
            </a:r>
            <a:r>
              <a:rPr/>
              <a:t> (“General theories of pedagogy suggest… </a:t>
            </a:r>
            <a:r>
              <a:rPr i="1"/>
              <a:t>However</a:t>
            </a:r>
            <a:r>
              <a:rPr/>
              <a:t> studies of adult language learners also show…”) - Chronological (“By the 1960s, discussions of AI had already become more muted…”) - Thematic (“The concept of ‘attention’ is used in roughly similar ways in machine and human learning…”) - Spatial (“Studies in Asian universities show that …; in contrast, findings from North American universities suggest…”) - Developmental (“First I will discuss Descartes’ presentation of the mind/body problem. I then move on to look at 20th century critiques of this distinction….”) - Other? - Nested Categories (chronology then thematic, etc)?</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Guiding Notes</a:t>
            </a:r>
          </a:p>
          <a:p>
            <a:pPr lvl="0"/>
            <a:r>
              <a:rPr/>
              <a:t>Specialization: Can work well when you want to convey a sense of </a:t>
            </a:r>
            <a:r>
              <a:rPr b="1"/>
              <a:t>narrowing</a:t>
            </a:r>
            <a:r>
              <a:rPr/>
              <a:t> down a focus: Education &gt; K12 &gt; Math learning &gt; Algebra &gt; in rural Mid-west schools</a:t>
            </a:r>
          </a:p>
          <a:p>
            <a:pPr lvl="0"/>
            <a:r>
              <a:rPr/>
              <a:t>Chronological: Can work well when you want to convey a sense of </a:t>
            </a:r>
            <a:r>
              <a:rPr b="1"/>
              <a:t>progress</a:t>
            </a:r>
          </a:p>
          <a:p>
            <a:pPr lvl="1"/>
            <a:r>
              <a:rPr/>
              <a:t>And how your work </a:t>
            </a:r>
            <a:r>
              <a:rPr b="1"/>
              <a:t>extends</a:t>
            </a:r>
            <a:r>
              <a:rPr/>
              <a:t> that progress</a:t>
            </a:r>
          </a:p>
          <a:p>
            <a:pPr lvl="0"/>
            <a:r>
              <a:rPr/>
              <a:t>Thematic: Can work well when you want to convey a sense of </a:t>
            </a:r>
            <a:r>
              <a:rPr b="1"/>
              <a:t>overlaps</a:t>
            </a:r>
            <a:r>
              <a:rPr/>
              <a:t>, </a:t>
            </a:r>
            <a:r>
              <a:rPr b="1"/>
              <a:t>intersection</a:t>
            </a:r>
            <a:r>
              <a:rPr/>
              <a:t> and </a:t>
            </a:r>
            <a:r>
              <a:rPr b="1"/>
              <a:t>gaps</a:t>
            </a:r>
          </a:p>
          <a:p>
            <a:pPr lvl="1"/>
            <a:r>
              <a:rPr/>
              <a:t>And how your work discovers and fills one of these gaps</a:t>
            </a:r>
          </a:p>
          <a:p>
            <a:pPr lvl="0"/>
            <a:r>
              <a:rPr/>
              <a:t>Spatial: Works well when you want to convey a sense of cultural, spatial or geographic difference</a:t>
            </a:r>
          </a:p>
          <a:p>
            <a:pPr lvl="1"/>
            <a:r>
              <a:rPr/>
              <a:t>And how your study attends to a location or zone not previously studied</a:t>
            </a:r>
          </a:p>
          <a:p>
            <a:pPr lvl="0"/>
            <a:r>
              <a:rPr/>
              <a:t>Developmental: Works well when you plan to build your argument through a sequence of positions / thinkers / ideas</a:t>
            </a:r>
          </a:p>
          <a:p>
            <a:pPr lvl="1"/>
            <a:r>
              <a:rPr/>
              <a:t>And show how you will blend, contrast or critique all of these positions / thinkers / ideas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do I Decide?</a:t>
            </a:r>
          </a:p>
          <a:p>
            <a:pPr lvl="0"/>
            <a:r>
              <a:rPr/>
              <a:t>Typically iterative:</a:t>
            </a:r>
          </a:p>
          <a:p>
            <a:pPr lvl="1"/>
            <a:r>
              <a:rPr/>
              <a:t>Go forward to discover the gap</a:t>
            </a:r>
          </a:p>
          <a:p>
            <a:pPr lvl="1"/>
            <a:r>
              <a:rPr/>
              <a:t>Move back from the gap to discover the structure</a:t>
            </a:r>
          </a:p>
          <a:p>
            <a:pPr lvl="0"/>
            <a:r>
              <a:rPr/>
              <a:t>Experiment with different structures</a:t>
            </a:r>
          </a:p>
          <a:p>
            <a:pPr lvl="1"/>
            <a:r>
              <a:rPr/>
              <a:t>Mock up your structure (more on this next week)</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Metadiscourse / Signposting</a:t>
            </a:r>
          </a:p>
          <a:p>
            <a:pPr lvl="0"/>
            <a:r>
              <a:rPr/>
              <a:t>Assume your reader does </a:t>
            </a:r>
            <a:r>
              <a:rPr b="1"/>
              <a:t>not know</a:t>
            </a:r>
            <a:r>
              <a:rPr/>
              <a:t> the literature</a:t>
            </a:r>
          </a:p>
          <a:p>
            <a:pPr lvl="0"/>
            <a:r>
              <a:rPr/>
              <a:t>A literature review is often </a:t>
            </a:r>
            <a:r>
              <a:rPr b="1"/>
              <a:t>pedagogical</a:t>
            </a:r>
            <a:r>
              <a:rPr/>
              <a:t> - teaching the reader about a field, in order to persuade them about the gap your research fills</a:t>
            </a:r>
          </a:p>
          <a:p>
            <a:pPr lvl="0"/>
            <a:r>
              <a:rPr/>
              <a:t>Helps </a:t>
            </a:r>
            <a:r>
              <a:rPr b="1"/>
              <a:t>you</a:t>
            </a:r>
            <a:r>
              <a:rPr/>
              <a:t> in authoring - does Y really follow from X?</a:t>
            </a:r>
          </a:p>
          <a:p>
            <a:pPr lvl="0"/>
            <a:r>
              <a:rPr/>
              <a:t>Be prepared to write / re-write this metadiscursive text often - especially early, as you experiment with structural principles (chronological etc)</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It Explicit</a:t>
            </a:r>
          </a:p>
          <a:p>
            <a:pPr lvl="0"/>
            <a:r>
              <a:rPr/>
              <a:t>Cannot be too explicit about your structure:</a:t>
            </a:r>
          </a:p>
          <a:p>
            <a:pPr lvl="1"/>
            <a:r>
              <a:rPr/>
              <a:t>Introduction (future tense):</a:t>
            </a:r>
          </a:p>
          <a:p>
            <a:pPr lvl="2"/>
            <a:r>
              <a:rPr/>
              <a:t>“In this literature review I will…”</a:t>
            </a:r>
          </a:p>
          <a:p>
            <a:pPr lvl="2"/>
            <a:r>
              <a:rPr/>
              <a:t>(or if you prefer) “This review will…”</a:t>
            </a:r>
          </a:p>
          <a:p>
            <a:pPr lvl="1"/>
            <a:r>
              <a:rPr/>
              <a:t>Conclusion (past tense):</a:t>
            </a:r>
          </a:p>
          <a:p>
            <a:pPr lvl="2"/>
            <a:r>
              <a:rPr/>
              <a:t>“In this review, I have discussed literature relating to…”</a:t>
            </a:r>
          </a:p>
          <a:p>
            <a:pPr lvl="2"/>
            <a:r>
              <a:rPr/>
              <a:t>(or if you prefer) “This review has…”</a:t>
            </a:r>
          </a:p>
          <a:p>
            <a:pPr lvl="1"/>
            <a:r>
              <a:rPr/>
              <a:t>Along the way:</a:t>
            </a:r>
          </a:p>
          <a:p>
            <a:pPr lvl="2"/>
            <a:r>
              <a:rPr/>
              <a:t>“In the last section, I discussed…. In the next, I will…”</a:t>
            </a:r>
          </a:p>
          <a:p>
            <a:pPr lvl="2"/>
            <a:r>
              <a:rPr/>
              <a:t>Can be blended through connective language. “While the </a:t>
            </a:r>
            <a:r>
              <a:rPr i="1"/>
              <a:t>preceding studies</a:t>
            </a:r>
            <a:r>
              <a:rPr/>
              <a:t> illustrated how use of AI in education has been studied extensively, less has been said about how AI contributes to the student/teacher relationship. Some exceptions include studies by X, Y and Z…”</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Develop a Repertoire of Metadiscourse</a:t>
            </a:r>
          </a:p>
          <a:p>
            <a:pPr lvl="0"/>
            <a:r>
              <a:rPr/>
              <a:t>Ask AI for suggestions…</a:t>
            </a:r>
          </a:p>
          <a:p>
            <a:pPr lvl="1"/>
            <a:r>
              <a:rPr/>
              <a:t>“Give me examples of metadiscourse for a literature review”</a:t>
            </a:r>
          </a:p>
          <a:p>
            <a:pPr lvl="1"/>
            <a:r>
              <a:rPr/>
              <a:t>Or “Give me a table and distinguish between metadiscourse used in (a) scientific and (b) humanities discussions of literature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Practice in Groups…</a:t>
            </a:r>
          </a:p>
          <a:p>
            <a:pPr lvl="0" indent="0" marL="0">
              <a:buNone/>
            </a:pPr>
            <a:r>
              <a:rPr/>
              <a:t>Using 3-6 sources from your database (Week 3), develop:</a:t>
            </a:r>
          </a:p>
          <a:p>
            <a:pPr lvl="0" indent="-342900" marL="342900">
              <a:buAutoNum type="arabicPeriod"/>
            </a:pPr>
            <a:r>
              <a:rPr/>
              <a:t>A paragraph of a </a:t>
            </a:r>
            <a:r>
              <a:rPr i="1"/>
              <a:t>scientific</a:t>
            </a:r>
            <a:r>
              <a:rPr/>
              <a:t> literature review</a:t>
            </a:r>
          </a:p>
          <a:p>
            <a:pPr lvl="0" indent="-342900" marL="342900">
              <a:buAutoNum type="arabicPeriod"/>
            </a:pPr>
            <a:r>
              <a:rPr/>
              <a:t>A paragraph of a </a:t>
            </a:r>
            <a:r>
              <a:rPr i="1"/>
              <a:t>humanities</a:t>
            </a:r>
            <a:r>
              <a:rPr/>
              <a:t> literature review</a:t>
            </a:r>
          </a:p>
          <a:p>
            <a:pPr lvl="0" indent="0" marL="0">
              <a:buNone/>
            </a:pPr>
            <a:r>
              <a:rPr/>
              <a:t>Make sure to </a:t>
            </a:r>
            <a:r>
              <a:rPr i="1"/>
              <a:t>introduce</a:t>
            </a:r>
            <a:r>
              <a:rPr/>
              <a:t> and </a:t>
            </a:r>
            <a:r>
              <a:rPr i="1"/>
              <a:t>conclude</a:t>
            </a:r>
            <a:r>
              <a:rPr/>
              <a:t> the paragraph. </a:t>
            </a:r>
            <a:r>
              <a:rPr b="1"/>
              <a:t>Exaggerate</a:t>
            </a:r>
            <a:r>
              <a:rPr/>
              <a:t> the scientific and humanities styles – and the metadiscourse!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a:t>
            </a:r>
            <a:r>
              <a:rPr b="1" i="1"/>
              <a:t>Scientific</a:t>
            </a:r>
            <a:r>
              <a:rPr b="1"/>
              <a:t> literature review</a:t>
            </a:r>
          </a:p>
          <a:p>
            <a:pPr lvl="0"/>
            <a:r>
              <a:rPr/>
              <a:t>What does your </a:t>
            </a:r>
            <a:r>
              <a:rPr b="1"/>
              <a:t>scientific</a:t>
            </a:r>
            <a:r>
              <a:rPr/>
              <a:t> audience expect?</a:t>
            </a:r>
          </a:p>
          <a:p>
            <a:pPr lvl="0"/>
            <a:r>
              <a:rPr/>
              <a:t>Use </a:t>
            </a:r>
            <a:r>
              <a:rPr>
                <a:hlinkClick r:id="rId2"/>
              </a:rPr>
              <a:t>[2510.01171] Verbalized Sampling: How to Mitigate Mode Collapse and Unlock LLM Diversity</a:t>
            </a:r>
            <a:r>
              <a:rPr/>
              <a:t> - or other examples</a:t>
            </a:r>
          </a:p>
          <a:p>
            <a:pPr lvl="0"/>
            <a:r>
              <a:rPr/>
              <a:t>Write 4-5 sentences - cite 4+ references</a:t>
            </a:r>
          </a:p>
          <a:p>
            <a:pPr lvl="0"/>
            <a:r>
              <a:rPr/>
              <a:t>Use metadiscourse to introduce / compare / contrast / conclude / transition the paragraph</a:t>
            </a:r>
          </a:p>
          <a:p>
            <a:pPr lvl="0"/>
            <a:r>
              <a:rPr/>
              <a:t>15 minutes?</a:t>
            </a:r>
          </a:p>
          <a:p>
            <a:pPr lvl="0"/>
            <a:r>
              <a:rPr/>
              <a:t>Use Google Doc - </a:t>
            </a:r>
            <a:r>
              <a:rPr b="1"/>
              <a:t>Homework for Week 4</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a:t>
            </a:r>
            <a:r>
              <a:rPr b="1" i="1"/>
              <a:t>Humanities</a:t>
            </a:r>
            <a:r>
              <a:rPr b="1"/>
              <a:t> literature review</a:t>
            </a:r>
          </a:p>
          <a:p>
            <a:pPr lvl="0"/>
            <a:r>
              <a:rPr/>
              <a:t>What does your </a:t>
            </a:r>
            <a:r>
              <a:rPr b="1"/>
              <a:t>humanities</a:t>
            </a:r>
            <a:r>
              <a:rPr/>
              <a:t> audience expect?</a:t>
            </a:r>
          </a:p>
          <a:p>
            <a:pPr lvl="0"/>
            <a:r>
              <a:rPr/>
              <a:t>Use Spivak, G. C. (2023). </a:t>
            </a:r>
            <a:r>
              <a:rPr>
                <a:hlinkClick r:id="rId2"/>
              </a:rPr>
              <a:t>jan.ucc.nau.edu</a:t>
            </a:r>
            <a:r>
              <a:rPr/>
              <a:t> - or other examples</a:t>
            </a:r>
          </a:p>
          <a:p>
            <a:pPr lvl="0"/>
            <a:r>
              <a:rPr/>
              <a:t>Write 4-5 sentences - cite 1+ references</a:t>
            </a:r>
          </a:p>
          <a:p>
            <a:pPr lvl="0"/>
            <a:r>
              <a:rPr/>
              <a:t>Use metadiscourse to introduce / compare / contrast / conclude / transition the paragraph</a:t>
            </a:r>
          </a:p>
          <a:p>
            <a:pPr lvl="0"/>
            <a:r>
              <a:rPr/>
              <a:t>15 minutes?</a:t>
            </a:r>
          </a:p>
          <a:p>
            <a:pPr lvl="0"/>
            <a:r>
              <a:rPr/>
              <a:t>Use Google Doc - </a:t>
            </a:r>
            <a:r>
              <a:rPr b="1"/>
              <a:t>Homework for Week 4</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Finally</a:t>
            </a:r>
          </a:p>
          <a:p>
            <a:pPr lvl="0"/>
            <a:r>
              <a:rPr/>
              <a:t>Read both versions</a:t>
            </a:r>
          </a:p>
          <a:p>
            <a:pPr lvl="0"/>
            <a:r>
              <a:rPr/>
              <a:t>(Optional) Ask AI to add even more “metadiscourse” to the text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a:t>
            </a:r>
          </a:p>
          <a:p>
            <a:pPr lvl="0"/>
            <a:r>
              <a:rPr/>
              <a:t>Which did you prefer to write? Which did you find more persuasive to read?</a:t>
            </a:r>
          </a:p>
          <a:p>
            <a:pPr lvl="0"/>
            <a:r>
              <a:rPr/>
              <a:t>What kind of audience would you usually write for?</a:t>
            </a:r>
          </a:p>
          <a:p>
            <a:pPr lvl="0"/>
            <a:r>
              <a:rPr/>
              <a:t>Could you imagine blending these two extremes?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Future Weeks</a:t>
            </a:r>
          </a:p>
          <a:p>
            <a:pPr lvl="0"/>
            <a:r>
              <a:rPr/>
              <a:t>Week 5: Scaffolding</a:t>
            </a:r>
          </a:p>
          <a:p>
            <a:pPr lvl="0"/>
            <a:r>
              <a:rPr/>
              <a:t>Week 7: Drafting / Use of AI</a:t>
            </a:r>
          </a:p>
          <a:p>
            <a:pPr lvl="0"/>
            <a:r>
              <a:rPr/>
              <a:t>Week 8: Final Literature Review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2025-11-12T04:04:56Z</dcterms:created>
  <dcterms:modified xsi:type="dcterms:W3CDTF">2025-11-12T04:04:56Z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
  </property>
</Properties>
</file>