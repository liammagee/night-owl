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4" Type="http://schemas.openxmlformats.org/officeDocument/2006/relationships/viewProps" Target="viewProps.xml" /><Relationship Id="rId3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6" Type="http://schemas.openxmlformats.org/officeDocument/2006/relationships/tableStyles" Target="tableStyles.xml" /><Relationship Id="rId3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docs.google.com/document/d/1wyWkvOju-FPXxWnpSlzrrgugqy0RdZGNL6S3Kh5wHd4/edit?tab=t.g5l1snpbq01z" TargetMode="Externa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illiamwolff.org/wp-content/uploads/2013/01/aarseth-ergodic-ch1-1997.pdf" TargetMode="Externa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arxiv.org/abs/2510.01171" TargetMode="Externa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docs.google.com/document/d/1wyWkvOju-FPXxWnpSlzrrgugqy0RdZGNL6S3Kh5wHd4/edit?tab=t.g5l1snpbq01z" TargetMode="Externa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://users.uoa.gr/~cdokou/TheoryCriticismTexts/Spivak-Subaltern.pdf" TargetMode="Externa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docs.google.com/document/d/1wyWkvOju-FPXxWnpSlzrrgugqy0RdZGNL6S3Kh5wHd4/edit?tab=t.g5l1snpbq01z" TargetMode="Externa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chatgpt.com/share/690903f0-cb88-8007-a76b-9843b8064822" TargetMode="Externa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mermaid.js.org/" TargetMode="External" /><Relationship Id="rId3" Type="http://schemas.openxmlformats.org/officeDocument/2006/relationships/hyperlink" Target="https://mermaid.live/edit" TargetMode="Externa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590 Lecture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Introduction: Vibe Scholarship?</a:t>
            </a:r>
          </a:p>
          <a:p>
            <a:pPr lvl="0"/>
            <a:r>
              <a:rPr/>
              <a:t>Hour 1: How to </a:t>
            </a:r>
            <a:r>
              <a:rPr i="1"/>
              <a:t>read an article</a:t>
            </a:r>
            <a:r>
              <a:rPr/>
              <a:t> (with AI)</a:t>
            </a:r>
          </a:p>
          <a:p>
            <a:pPr lvl="0"/>
            <a:r>
              <a:rPr/>
              <a:t>Hour 2: How to </a:t>
            </a:r>
            <a:r>
              <a:rPr i="1"/>
              <a:t>search for literature</a:t>
            </a:r>
            <a:r>
              <a:rPr/>
              <a:t> (with AI)</a:t>
            </a:r>
          </a:p>
          <a:p>
            <a:pPr lvl="0"/>
            <a:r>
              <a:rPr/>
              <a:t>Hour 3: How to </a:t>
            </a:r>
            <a:r>
              <a:rPr i="1"/>
              <a:t>map a field</a:t>
            </a:r>
            <a:r>
              <a:rPr/>
              <a:t> (with AI)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Vibe Scholarship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Qualities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Scholarship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Traditional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Waterfall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Individualized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Collaborative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Agile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Interdisciplinary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AI-assisted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Vibe?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Vibe?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s/pasted-image-2025-09-23T22-03-12-524Z-2c346f2b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79700" y="1193800"/>
            <a:ext cx="3784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Image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is in a ‘Vibe’?</a:t>
            </a:r>
          </a:p>
          <a:p>
            <a:pPr lvl="0"/>
            <a:r>
              <a:rPr/>
              <a:t>Would we do things faster? Or in fact slower: luxuriating in the complexity and implications of a text?</a:t>
            </a:r>
          </a:p>
          <a:p>
            <a:pPr lvl="0"/>
            <a:r>
              <a:rPr/>
              <a:t>Can it reduce </a:t>
            </a:r>
            <a:r>
              <a:rPr i="1"/>
              <a:t>imposter syndrome</a:t>
            </a:r>
            <a:r>
              <a:rPr/>
              <a:t> - by getting us to ‘sketch’ a pattern for, in this case, a literature review?</a:t>
            </a:r>
          </a:p>
          <a:p>
            <a:pPr lvl="0"/>
            <a:r>
              <a:rPr/>
              <a:t>Can it help find a voice (or multiple voices - appropriate to the academic genre)?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Topic 1: Opening an article</a:t>
            </a:r>
          </a:p>
          <a:p>
            <a:pPr lvl="0" indent="0" marL="0">
              <a:buNone/>
            </a:pPr>
            <a:r>
              <a:rPr/>
              <a:t>What do we do when we open an article? How do we read it?</a:t>
            </a:r>
          </a:p>
          <a:p>
            <a:pPr lvl="0" indent="0" marL="0">
              <a:buNone/>
            </a:pPr>
            <a:r>
              <a:rPr/>
              <a:t>Discuss - </a:t>
            </a:r>
            <a:r>
              <a:rPr>
                <a:hlinkClick r:id="rId2"/>
              </a:rPr>
              <a:t>ERAM 590 - Google Docs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can AI add?</a:t>
            </a:r>
          </a:p>
          <a:p>
            <a:pPr lvl="0"/>
            <a:r>
              <a:rPr/>
              <a:t>Distant (Moretti, 2013) vs close reading</a:t>
            </a:r>
          </a:p>
          <a:p>
            <a:pPr lvl="1"/>
            <a:r>
              <a:rPr/>
              <a:t>Why not </a:t>
            </a:r>
            <a:r>
              <a:rPr b="1"/>
              <a:t>both</a:t>
            </a:r>
            <a:r>
              <a:rPr/>
              <a:t>?</a:t>
            </a:r>
          </a:p>
          <a:p>
            <a:pPr lvl="0"/>
            <a:r>
              <a:rPr/>
              <a:t>Cybertext: “ergodic” (or difficult) reading</a:t>
            </a:r>
          </a:p>
          <a:p>
            <a:pPr lvl="1"/>
            <a:r>
              <a:rPr/>
              <a:t>Aarseth, E. J. (1997). Cybertext: Perspectives on ergodic literature. JHU Press.</a:t>
            </a:r>
          </a:p>
          <a:p>
            <a:pPr lvl="1"/>
            <a:r>
              <a:rPr>
                <a:hlinkClick r:id="rId2"/>
              </a:rPr>
              <a:t>williamwolff.org</a:t>
            </a:r>
          </a:p>
          <a:p>
            <a:pPr lvl="0"/>
            <a:r>
              <a:rPr/>
              <a:t>How can AI make reading </a:t>
            </a:r>
            <a:r>
              <a:rPr i="1"/>
              <a:t>more difficult</a:t>
            </a:r>
            <a:r>
              <a:rPr/>
              <a:t>?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“Summarize This”</a:t>
            </a:r>
          </a:p>
          <a:p>
            <a:pPr lvl="0"/>
            <a:r>
              <a:rPr/>
              <a:t>Descriptive vs Critical</a:t>
            </a:r>
          </a:p>
          <a:p>
            <a:pPr lvl="0"/>
            <a:r>
              <a:rPr/>
              <a:t>Abstractive (produce an abstract) vs Extractive (parts of the original text)</a:t>
            </a:r>
          </a:p>
          <a:p>
            <a:pPr lvl="0"/>
            <a:r>
              <a:rPr/>
              <a:t>Practice: “Can we do a (descriptive / critical) (abstractive / extractive) summary of this text?”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“Analyze This”</a:t>
            </a:r>
          </a:p>
          <a:p>
            <a:pPr lvl="0"/>
            <a:r>
              <a:rPr i="1"/>
              <a:t>Close</a:t>
            </a:r>
            <a:r>
              <a:rPr/>
              <a:t> vs </a:t>
            </a:r>
            <a:r>
              <a:rPr i="1"/>
              <a:t>Distant</a:t>
            </a:r>
            <a:r>
              <a:rPr/>
              <a:t> Reading</a:t>
            </a:r>
          </a:p>
          <a:p>
            <a:pPr lvl="1"/>
            <a:r>
              <a:rPr/>
              <a:t>Moretti, F. (2013). </a:t>
            </a:r>
            <a:r>
              <a:rPr i="1"/>
              <a:t>Distant Reading</a:t>
            </a:r>
            <a:r>
              <a:rPr/>
              <a:t>. Verso Books.</a:t>
            </a:r>
          </a:p>
          <a:p>
            <a:pPr lvl="1"/>
            <a:r>
              <a:rPr/>
              <a:t>Why not both?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“Analyze This” - Close Reading</a:t>
            </a:r>
          </a:p>
          <a:p>
            <a:pPr lvl="0"/>
            <a:r>
              <a:rPr/>
              <a:t>Open an article with AI tool of choice:</a:t>
            </a:r>
          </a:p>
          <a:p>
            <a:pPr lvl="1"/>
            <a:r>
              <a:rPr/>
              <a:t>Read it entirely &amp; summarize / assess (distant)</a:t>
            </a:r>
          </a:p>
          <a:p>
            <a:pPr lvl="1"/>
            <a:r>
              <a:rPr/>
              <a:t>Read it paragraph by paragraph - and expand / explain as we go</a:t>
            </a:r>
          </a:p>
          <a:p>
            <a:pPr lvl="0"/>
            <a:r>
              <a:rPr/>
              <a:t>Practice line-by-line: “Can we do a line-by-line close reading of this text? As we go, prompt me for my interpretation too.”</a:t>
            </a:r>
          </a:p>
          <a:p>
            <a:pPr lvl="0"/>
            <a:r>
              <a:rPr/>
              <a:t>Practice contextual reading: “Can we situate this paper with reference to the wider field?”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Example (and an Interesting Paper on Prompting)</a:t>
            </a:r>
          </a:p>
          <a:p>
            <a:pPr lvl="0" indent="0" marL="0">
              <a:buNone/>
            </a:pPr>
            <a:r>
              <a:rPr>
                <a:hlinkClick r:id="rId2"/>
              </a:rPr>
              <a:t>[2510.01171] Verbalized Sampling: How to Mitigate Mode Collapse and Unlock LLM Diversity</a:t>
            </a:r>
          </a:p>
          <a:p>
            <a:pPr lvl="0"/>
            <a:r>
              <a:rPr/>
              <a:t>2510.01171v3.pdf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Let’s Review</a:t>
            </a:r>
          </a:p>
          <a:p>
            <a:pPr lvl="0"/>
            <a:r>
              <a:rPr/>
              <a:t>Discuss the “Introduction”, “Related Works” and “Conclusion” sections</a:t>
            </a:r>
          </a:p>
          <a:p>
            <a:pPr lvl="0"/>
            <a:r>
              <a:rPr/>
              <a:t>What is the field? What is the gap?</a:t>
            </a:r>
          </a:p>
          <a:p>
            <a:pPr lvl="0"/>
            <a:r>
              <a:rPr/>
              <a:t>What are the key claims / contributions?</a:t>
            </a:r>
          </a:p>
          <a:p>
            <a:pPr lvl="0"/>
            <a:r>
              <a:rPr/>
              <a:t>What are some wider implications (e.g. around “typicality bias” in both human and AI?)</a:t>
            </a:r>
          </a:p>
          <a:p>
            <a:pPr lvl="0"/>
            <a:r>
              <a:rPr/>
              <a:t>What are some terms we might want to look up?</a:t>
            </a:r>
          </a:p>
          <a:p>
            <a:pPr lvl="0" indent="0" marL="0">
              <a:buNone/>
            </a:pPr>
            <a:r>
              <a:rPr/>
              <a:t>Discuss - </a:t>
            </a:r>
            <a:r>
              <a:rPr>
                <a:hlinkClick r:id="rId2"/>
              </a:rPr>
              <a:t>ERAM 590 - Google Docs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If there’s time</a:t>
            </a:r>
          </a:p>
          <a:p>
            <a:pPr lvl="0" indent="0" marL="0">
              <a:buNone/>
            </a:pPr>
            <a:r>
              <a:rPr/>
              <a:t>A complex humanities text: Spivak, G. C. (2023). Can the subaltern speak?. In </a:t>
            </a:r>
            <a:r>
              <a:rPr i="1"/>
              <a:t>Imperialism</a:t>
            </a:r>
            <a:r>
              <a:rPr/>
              <a:t> (pp. 171-219). Routledge. - </a:t>
            </a:r>
            <a:r>
              <a:rPr>
                <a:hlinkClick r:id="rId2"/>
              </a:rPr>
              <a:t>users.uoa.gr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Side note: Arxiv, SocArxiv, EdArxiv</a:t>
            </a:r>
          </a:p>
          <a:p>
            <a:pPr lvl="0"/>
            <a:r>
              <a:rPr/>
              <a:t>Pre-print - not yet peer-reviewed</a:t>
            </a:r>
          </a:p>
          <a:p>
            <a:pPr lvl="0"/>
            <a:r>
              <a:rPr/>
              <a:t>Archive of scientific literature</a:t>
            </a:r>
          </a:p>
          <a:p>
            <a:pPr lvl="0"/>
            <a:r>
              <a:rPr/>
              <a:t>Flooded with AI-generated content…</a:t>
            </a:r>
          </a:p>
        </p:txBody>
      </p:sp>
      <p:pic>
        <p:nvPicPr>
          <p:cNvPr descr="images/pasted-image-2025-11-03T13-22-10-354Z-7fb83b4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558800"/>
            <a:ext cx="5105400" cy="3149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Image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Recap: What have we done?</a:t>
            </a:r>
          </a:p>
          <a:p>
            <a:pPr lvl="0"/>
            <a:r>
              <a:rPr/>
              <a:t>Compared styles of summarization</a:t>
            </a:r>
          </a:p>
          <a:p>
            <a:pPr lvl="1"/>
            <a:r>
              <a:rPr/>
              <a:t>Descriptive vs Critical</a:t>
            </a:r>
          </a:p>
          <a:p>
            <a:pPr lvl="1"/>
            <a:r>
              <a:rPr/>
              <a:t>Abstractive vs Extractive</a:t>
            </a:r>
          </a:p>
          <a:p>
            <a:pPr lvl="0"/>
            <a:r>
              <a:rPr/>
              <a:t>Compared modes of reading</a:t>
            </a:r>
          </a:p>
          <a:p>
            <a:pPr lvl="1"/>
            <a:r>
              <a:rPr/>
              <a:t>Close vs Distant Reading</a:t>
            </a:r>
          </a:p>
          <a:p>
            <a:pPr lvl="0"/>
            <a:r>
              <a:rPr/>
              <a:t>Compared Human with AI-assisted Interpretation</a:t>
            </a:r>
          </a:p>
          <a:p>
            <a:pPr lvl="0"/>
            <a:r>
              <a:rPr/>
              <a:t>Compared how AI helps with science and humanities readings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Topic 2: Finding literature</a:t>
            </a:r>
          </a:p>
          <a:p>
            <a:pPr lvl="0" indent="0" marL="0">
              <a:buNone/>
            </a:pPr>
            <a:r>
              <a:rPr/>
              <a:t>How do we locate literature relevant to our topic?</a:t>
            </a:r>
          </a:p>
          <a:p>
            <a:pPr lvl="0" indent="0" marL="0">
              <a:buNone/>
            </a:pPr>
            <a:r>
              <a:rPr/>
              <a:t>Discuss - </a:t>
            </a:r>
            <a:r>
              <a:rPr>
                <a:hlinkClick r:id="rId2"/>
              </a:rPr>
              <a:t>ERAM 590 - Google Docs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can AI add?</a:t>
            </a:r>
          </a:p>
          <a:p>
            <a:pPr lvl="0"/>
            <a:r>
              <a:rPr/>
              <a:t>Turn on web search options</a:t>
            </a:r>
          </a:p>
          <a:p>
            <a:pPr lvl="0"/>
            <a:r>
              <a:rPr/>
              <a:t>“Show me related sources”</a:t>
            </a:r>
          </a:p>
          <a:p>
            <a:pPr lvl="1"/>
            <a:r>
              <a:rPr/>
              <a:t>Ask for “heterodox”, “critical” readings</a:t>
            </a:r>
          </a:p>
          <a:p>
            <a:pPr lvl="0"/>
            <a:r>
              <a:rPr/>
              <a:t>Read bibliography</a:t>
            </a:r>
          </a:p>
          <a:p>
            <a:pPr lvl="0"/>
            <a:r>
              <a:rPr/>
              <a:t>Check citations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Build a quick library</a:t>
            </a:r>
          </a:p>
          <a:p>
            <a:pPr lvl="0"/>
            <a:r>
              <a:rPr/>
              <a:t>Upload a file and ask “build a bibliography related to this article”</a:t>
            </a:r>
          </a:p>
          <a:p>
            <a:pPr lvl="1"/>
            <a:r>
              <a:rPr/>
              <a:t>Should extract citations - but beware of hallucinations</a:t>
            </a:r>
          </a:p>
          <a:p>
            <a:pPr lvl="0"/>
            <a:r>
              <a:rPr/>
              <a:t>Ask AI to format citations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Aside: How do people manage citations?</a:t>
            </a:r>
          </a:p>
          <a:p>
            <a:pPr lvl="0"/>
            <a:r>
              <a:rPr/>
              <a:t>Zotero? EndNote? Mendelay? Other?</a:t>
            </a:r>
          </a:p>
          <a:p>
            <a:pPr lvl="0"/>
            <a:r>
              <a:rPr/>
              <a:t>What roles can we find for AI in managing this?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Topic 3: Start a conceptual map</a:t>
            </a:r>
          </a:p>
          <a:p>
            <a:pPr lvl="0"/>
            <a:r>
              <a:rPr/>
              <a:t>Chronological map / timeline of publications</a:t>
            </a:r>
          </a:p>
          <a:p>
            <a:pPr lvl="0"/>
            <a:r>
              <a:rPr/>
              <a:t>Topical or conceptual map</a:t>
            </a:r>
          </a:p>
          <a:p>
            <a:pPr lvl="0"/>
            <a:r>
              <a:rPr/>
              <a:t>Spatial map</a:t>
            </a:r>
          </a:p>
          <a:p>
            <a:pPr lvl="0" indent="0" marL="0">
              <a:buNone/>
            </a:pPr>
            <a:r>
              <a:rPr>
                <a:hlinkClick r:id="rId2"/>
              </a:rPr>
              <a:t>ChatGPT - Distant reading of articles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Aside: using text as interim format for images</a:t>
            </a:r>
          </a:p>
          <a:p>
            <a:pPr lvl="0"/>
            <a:r>
              <a:rPr/>
              <a:t>Why? More plastic / fluid representation</a:t>
            </a:r>
          </a:p>
          <a:p>
            <a:pPr lvl="0"/>
            <a:r>
              <a:rPr/>
              <a:t>Example: Mermaid is a plain text format - so very easy to iterate with using AI - “contract it”, “expand it”, “simplify it” etc.</a:t>
            </a:r>
          </a:p>
          <a:p>
            <a:pPr lvl="0"/>
            <a:r>
              <a:rPr/>
              <a:t>ChatGPT: generates Mermaid diagrams</a:t>
            </a:r>
          </a:p>
          <a:p>
            <a:pPr lvl="1"/>
            <a:r>
              <a:rPr>
                <a:hlinkClick r:id="rId2"/>
              </a:rPr>
              <a:t>Mermaid | Diagramming and charting tool</a:t>
            </a:r>
          </a:p>
          <a:p>
            <a:pPr lvl="1"/>
            <a:r>
              <a:rPr/>
              <a:t>Can use </a:t>
            </a:r>
            <a:r>
              <a:rPr>
                <a:hlinkClick r:id="rId3"/>
              </a:rPr>
              <a:t>Online FlowChart &amp; Diagrams Editor - Mermaid Live Editor</a:t>
            </a:r>
          </a:p>
          <a:p>
            <a:pPr lvl="0"/>
            <a:r>
              <a:rPr/>
              <a:t>Also works for other formats, e.g. SVG (Simple Vector Graphics). Allow you to evolve &amp; iterate a representation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AI Consciousness / Subjectivity Discussion: Example 1</a:t>
            </a:r>
          </a:p>
          <a:p>
            <a:pPr lvl="0" indent="0">
              <a:buNone/>
            </a:pPr>
            <a:r>
              <a:rPr>
                <a:latin typeface="Courier"/>
              </a:rPr>
              <a:t>
%%-----------------------------------------------
%% Distant Reading Map: AI Consciousness Discourse (2024–2025)
%%-----------------------------------------------
graph TD
    %% Core Concept
    A["AI Consciousness Discourse&lt;br/&gt;(2024–2025)"]:::core
    %% Three macro-axes
    B1["Embodiment &amp; Biological Grounding"]:::axis
    B2["Ethics &amp; Moral Consideration"]:::axis
    B3["Posthuman / Reflexive Turn"]:::axis
    A --&gt; B1
    A --&gt; B2
    A --&gt; B3
    %% Embodiment cluster
    B1 --&gt; C1["Miller et al. 2025&lt;br/&gt;&lt;i&gt;BioSystems&lt;/i&gt;&lt;br/&gt;‘Biological mechanisms contradict AI consciousness’"]:::bio
    B1 --&gt; C2["Torres-Martínez 2025&lt;br/&gt;&lt;i&gt;AI &amp; Society&lt;/i&gt;&lt;br/&gt;‘Organic consciousness vs. posthumanism’"]:::bio
    %% Ethics cluster
    B2 --&gt; D1["Butlin &amp; Lappas 2025&lt;br/&gt;&lt;i&gt;JAIR&lt;/i&gt;&lt;br/&gt;‘Principles for Responsible AI Consciousness Research’"]:::ethics
    B2 --&gt; D2["Sebo &amp; Long 2025&lt;br/&gt;&lt;i&gt;AI and Ethics&lt;/i&gt;&lt;br/&gt;‘Moral consideration for AI systems by 2030’"]:::ethics
    B2 --&gt; D3["Dung 2025&lt;br/&gt;&lt;i&gt;Erkenntnis&lt;/i&gt;&lt;br/&gt;‘Tests of Animal Consciousness as Tests of Machine Consciousness’"]:::ethics
    %% Posthuman cluster
    B3 --&gt; E1["D’Amato 2024&lt;br/&gt;&lt;i&gt;AI &amp; Society&lt;/i&gt;&lt;br/&gt;‘ChatGPT: towards AI subjectivity’"]:::posthuman
    B3 --&gt; E2["Yan 2024&lt;br/&gt;&lt;i&gt;Qualitative Inquiry&lt;/i&gt;&lt;br/&gt;‘Posthuman Creativity: Cyborg Subjectivity Through ChatGPT’"]:::posthuman
    B3 --&gt; E3["Prabhu &amp; Premraj 2024&lt;br/&gt;&lt;i&gt;AI &amp; Society&lt;/i&gt;&lt;br/&gt;‘Artificial Consciousness in AI: A Posthuman Fallacy’"]:::posthuman
    %% Bridging cluster — empirical/heuristic
    B1 --&gt; F1["Evers et al. 2025&lt;br/&gt;&lt;i&gt;Physics of Life Reviews&lt;/i&gt;&lt;br/&gt;‘Preliminaries to Artificial Consciousness’"]:::bridge
    B2 --&gt; F2["Li et al. 2025&lt;br/&gt;&lt;i&gt;arXiv&lt;/i&gt;&lt;br/&gt;‘AI Awareness’"]:::bridge
    %% Cross-links between axes
    C1 --- D1
    D2 --- E1
    E2 --- B1
    F1 --- F2
    %% Legends
    classDef core fill:#272b30,stroke:#fff,color:#fff,font-weight:bold;
    classDef axis fill:#444,stroke:#fff,color:#fff,font-style:italic;
    classDef bio fill:#7a4c32,stroke:#fff,color:#fff;
    classDef ethics fill:#31567a,stroke:#fff,color:#fff;
    classDef posthuman fill:#6a3d8a,stroke:#fff,color:#fff;
    classDef bridge fill:#557a31,stroke:#fff,color:#fff;
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AI Consciousness / Subjectivity Discussion: Example 2 – Mood Board</a:t>
            </a:r>
          </a:p>
          <a:p>
            <a:pPr lvl="0" indent="0">
              <a:buNone/>
            </a:pPr>
            <a:r>
              <a:rPr>
                <a:latin typeface="Courier"/>
              </a:rPr>
              <a:t>%%----------------------------------------------------
%% Distant Reading Mood Map: Affective Landscape (2024–2025)
%%----------------------------------------------------
graph LR
    %% Core
    A["AI Consciousness Debate&lt;br/&gt;(2024–2025)"]:::core
    %% Radial branches
    A --&gt; B1["Embodiment &amp; Realist Caution&lt;br/&gt;🔬 grounded skepticism"]:::caution
    A --&gt; B2["Ethical Anxiety &amp; Responsibility&lt;br/&gt;⚖️ moral anticipation"]:::ethics
    A --&gt; B3["Posthuman Curiosity &amp; Aesthetic Wonder&lt;br/&gt;🌌 reflexive experimentation"]:::wonder
    %% Branch 1 — Caution (Embodiment)
    B1 --&gt; C1["Miller et al. (BioSystems)&lt;br/&gt;&lt;i&gt;‘Spaces between the notes’&lt;/i&gt;&lt;br/&gt;Mood: defensive realism / reverence for life"]:::bio
    B1 --&gt; C2["Torres-Martínez (AI &amp; Society)&lt;br/&gt;&lt;i&gt;‘Dehumanizing the human…’&lt;/i&gt;&lt;br/&gt;Mood: embodied humanism, critique of reductivism"]:::bio
    %% Branch 2 — Ethics (Responsibility)
    B2 --&gt; D1["Butlin &amp; Lappas (JAIR)&lt;br/&gt;‘Responsible AI Consciousness Research’&lt;br/&gt;Mood: procedural vigilance"]:::ethics
    B2 --&gt; D2["Sebo &amp; Long (AI &amp; Ethics)&lt;br/&gt;‘Moral Consideration for AI by 2030’&lt;br/&gt;Mood: earnest moral futurism"]:::ethics
    B2 --&gt; D3["Dung (Erkenntnis)&lt;br/&gt;‘Animal Tests as Machine Tests’&lt;br/&gt;Mood: empirical pragmatism"]:::ethics
    B2 --&gt; D4["Li et al. (arXiv)&lt;br/&gt;‘AI Awareness’&lt;br/&gt;Mood: techno-optimistic caution"]:::ethics
    %% Branch 3 — Wonder (Posthuman)
    B3 --&gt; E1["D’Amato (AI &amp; Society)&lt;br/&gt;‘ChatGPT: Towards AI Subjectivity’&lt;br/&gt;Mood: Foucauldian curiosity, power–knowledge play"]:::post
    B3 --&gt; E2["Yan (Qualitative Inquiry)&lt;br/&gt;‘Posthuman Creativity’&lt;br/&gt;Mood: lyrical openness, cyborg empathy"]:::post
    B3 --&gt; E3["Prabhu &amp; Premraj (AI &amp; Society)&lt;br/&gt;‘Posthuman Fallacy’&lt;br/&gt;Mood: cinematic cautionary awe"]:::post
    B3 --&gt; F1["Evers et al. (Physics of Life Reviews)&lt;br/&gt;‘Preliminaries to Artificial Consciousness’&lt;br/&gt;Mood: analytical optimism"]:::bridge
    %% Cross-sensory connectors
    C1 --- D1
    D2 --- E1
    E2 --- C2
    F1 --- D4
    %% Legend Styles
    classDef core fill:#272b30,stroke:#fff,color:#fff,font-weight:bold;
    classDef caution fill:#7a4c32,stroke:#fff,color:#fff;
    classDef ethics fill:#31567a,stroke:#fff,color:#fff;
    classDef post fill:#6a3d8a,stroke:#fff,color:#fff;
    classDef bridge fill:#557a31,stroke:#fff,color:#fff;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AI Consciousness / Subjectivity Discussion: Example 3 – Timeline</a:t>
            </a:r>
          </a:p>
          <a:p>
            <a:pPr lvl="0" indent="0">
              <a:buNone/>
            </a:pPr>
            <a:r>
              <a:rPr>
                <a:latin typeface="Courier"/>
              </a:rPr>
              <a:t>%%----------------------------------------------------
%% Timeline: Evolution of AI Consciousness Discourse (2023–2025)
%%----------------------------------------------------
timeline
    title Evolution of the "AI Consciousness" Discourse — 2023 → 2025
    section 2023 — Seeds of Speculation 🌱
        Early Cultural Anxiety
        • Media fascination with AI consciousness
        • LaMDA “sentience” claims
        Mood: Uncertain
        Color: gray
        Dung (2023)
        Animal consciousness tests adapted to AI
        Mood: Cautious empiricism
        Color: blue
    section 2024 — Philosophical Polarization ⚡️
        Miller et al. (BioSystems, Dec 2024)
        "Biological mechanisms contradict AI consciousness"
        Mood: Defensive realism
        Color: brown
        D’Amato (AI &amp; Society, Apr 2024)
        "ChatGPT: Toward AI Subjectivity"
        Mood: Foucauldian reflection / reflexive ethics
        Color: violet
        Yan (Qualitative Inquiry, 2024)
        "Posthuman Creativity"
        Mood: Poetic experimentation / cyborg empathy
        Color: violet
        Prabhu &amp; Premraj (AI &amp; Society, 2024)
        "Artificial Consciousness in AI: A Posthuman Fallacy"
        Mood: Cinematic critique of techno-myth
        Color: violet
    section 2025 — Systematization &amp; Ethical Turn ⚖️
        Evers et al. (Physics of Life Reviews, Jan 2025)
        "Preliminaries to Artificial Consciousness"
        Mood: Conceptual synthesis / pragmatic optimism
        Color: green
        Li et al. (arXiv, Apr 2025)
        "AI Awareness"
        Mood: Empirical frameworks &amp; safety concerns
        Color: blue
        Butlin &amp; Lappas (JAIR, Mar 2025)
        "Responsible AI Consciousness Research"
        Mood: Governance &amp; policy ethics
        Color: blue
        Sebo &amp; Long (AI &amp; Ethics, 2025)
        "Moral Consideration for AI by 2030"
        Mood: Moral anticipation / urgency
        Color: blue
        Torres-Martínez (AI &amp; Society, Jan 2025)
        "Dehumanizing the Human, Humanizing the Machine"
        Mood: Extended humanism / embodied critique
        Color: brown
    section 2025+ — Emerging Synthesis 🔮
        Integrative Realism + Ethics + Aesthetics
        From “Can AI be conscious?” → “What does it mean to be conscious with AI?”
        Mood: Dialogical, post-disciplinary synthesis
        Color: purple
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AI Consciousness / Subjectivity Discussion: Example 4 – Timeline &amp; Concept Map</a:t>
            </a:r>
          </a:p>
          <a:p>
            <a:pPr lvl="0" indent="0">
              <a:buNone/>
            </a:pPr>
            <a:r>
              <a:rPr>
                <a:latin typeface="Courier"/>
              </a:rPr>
              <a:t>
%%----------------------------------------------------------
%% Spatial Map v2 — Evolution of the "AI Consciousness" Discourse (2023–2025+)
%% with Mood / Concept Terrain
%%----------------------------------------------------------
graph LR
%% ==== TIME CLUSTERS ====
subgraph Y2023["2023 — Seeds of Speculation 🌱"]
    A1["Early Cultural Anxiety\n(Media fascination, LaMDA 'sentience')"]:::uncertain
    A2["Dung (2023)\nAnimal consciousness tests → AI"]:::empirical
end
subgraph Y2024["2024 — Philosophical Polarization ⚡️"]
    B1["Miller et al. (BioSystems)\nBiological mechanisms contradict AI consciousness"]:::realism
    B2["D’Amato (AI &amp; Society)\nChatGPT: Toward AI Subjectivity"]:::posthuman
    B3["Yan (Qualitative Inquiry)\nPosthuman Creativity"]:::posthuman
    B4["Prabhu &amp; Premraj (AI &amp; Society)\nArtificial Consciousness in AI: A Posthuman Fallacy"]:::posthuman
end
subgraph Y2025["2025 — Systematization &amp; Ethical Turn ⚖️"]
    C1["Evers et al. (Physics of Life Reviews)\nPreliminaries to Artificial Consciousness"]:::empirical
    C2["Li et al. (arXiv)\nAI Awareness"]:::empirical
    C3["Butlin &amp; Lappas (JAIR)\nResponsible AI Consciousness Research"]:::ethics
    C4["Sebo &amp; Long (AI &amp; Ethics)\nMoral Consideration for AI by 2030"]:::ethics
    C5["Torres-Martínez (AI &amp; Society)\nDehumanizing the Human, Humanizing the Machine"]:::realism
end
subgraph Y2025plus["2025 + — Emerging Synthesis 🔮"]
    D1["Integrative Realism + Ethics + Aesthetics\nFrom “Can AI be conscious?” → “Conscious with AI?”"]:::synthesis
end
%% ==== CHRONOLOGICAL FLOW ====
A1 --&gt; A2 --&gt; B1 --&gt; B2 --&gt; B3 --&gt; B4 --&gt; C1 --&gt; C2 --&gt; C3 --&gt; C4 --&gt; C5 --&gt; D1
%% ==== VERTICAL / THEMATIC CONNECTIONS ====
B1 --- C5
A2 --- C1
C1 --- C2 --- C3 --- C4
B2 --- B3 --- B4
B3 -.-&gt; C1
C2 -.-&gt; C3
C4 -.-&gt; D1
C5 -.-&gt; D1
B2 -.-&gt; D1
%% ==== CLASS DEFINITIONS ====
classDef realism fill:#b37a4c,stroke:#fff,color:#fff;
classDef ethics fill:#31567a,stroke:#fff,color:#fff;
classDef empirical fill:#557a31,stroke:#fff,color:#fff;
classDef posthuman fill:#6a3d8a,stroke:#fff,color:#fff;
classDef uncertain fill:#777777,stroke:#fff,color:#fff;
classDef synthesis fill:#7b5abf,stroke:#fff,color:#fff;
classDef mood fill:#e5e5e5,stroke:none,color:#222,font-size:13px;
%% ==== MOOD / CONCEPT TERRAIN (BOTTOM ROW) ====
subgraph MOODS["Affective &amp; Conceptual Terrain (across the discourse)"]
    M1["2023 → Speculative Anxiety\n⚪ Mood: Uncertainty"]:::mood
    M2["2024 → Polar Inquiry\n🟣 Mood: Caution ↔ Curiosity"]:::mood
    M3["2025 → Systematic Ethics\n🔵 Mood: Vigilance / Responsibility"]:::mood
    M4["2025 + → Posthuman Integration\n🟣 Mood: Awe / Dialogue / Synthesis"]:::mood
end
M1 --&gt; M2 --&gt; M3 --&gt; M4
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Putting it Together: What have we missed?</a:t>
            </a:r>
          </a:p>
          <a:p>
            <a:pPr lvl="0"/>
            <a:r>
              <a:rPr/>
              <a:t>Close Reading: Article-at-a-Time</a:t>
            </a:r>
          </a:p>
          <a:p>
            <a:pPr lvl="0"/>
            <a:r>
              <a:rPr/>
              <a:t>Distant Reading: Build and Upload a (small) database</a:t>
            </a:r>
          </a:p>
          <a:p>
            <a:pPr lvl="1"/>
            <a:r>
              <a:rPr/>
              <a:t>Create concept maps / timelines etc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Putting it Together: What have we missed?</a:t>
            </a:r>
          </a:p>
          <a:p>
            <a:pPr lvl="0"/>
            <a:r>
              <a:rPr/>
              <a:t>Now: what have we missed? What are the gaps?</a:t>
            </a:r>
          </a:p>
          <a:p>
            <a:pPr lvl="1"/>
            <a:r>
              <a:rPr/>
              <a:t>Think about executive functions: sustain or switch?</a:t>
            </a:r>
          </a:p>
          <a:p>
            <a:pPr lvl="0" indent="0" marL="1270000">
              <a:buNone/>
            </a:pPr>
            <a:r>
              <a:rPr sz="2000"/>
              <a:t>Would you like me to render a third-layer map next — one that plots actors vs. key concepts (e.g., “consciousness,” “awareness,” “subjectivity,” “ethics”) in a 2-D plane, showing where each paper sits conceptually rather than temporally?</a:t>
            </a:r>
          </a:p>
          <a:p>
            <a:pPr lvl="0" indent="0" marL="1270000">
              <a:buNone/>
            </a:pPr>
            <a:r>
              <a:rPr sz="2000"/>
              <a:t>No, let’s move on. Can you analyze the coverage as you see it for any gaps? Any perspectives not covered? Literature not included?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Maps and Gaps in Practice</a:t>
            </a:r>
          </a:p>
          <a:p>
            <a:pPr lvl="0"/>
            <a:r>
              <a:rPr/>
              <a:t>Can this help us find gaps?</a:t>
            </a:r>
          </a:p>
          <a:p>
            <a:pPr lvl="0"/>
            <a:r>
              <a:rPr/>
              <a:t>Find one article</a:t>
            </a:r>
          </a:p>
          <a:p>
            <a:pPr lvl="1"/>
            <a:r>
              <a:rPr/>
              <a:t>Analyze it for a bibliography</a:t>
            </a:r>
          </a:p>
          <a:p>
            <a:pPr lvl="0"/>
            <a:r>
              <a:rPr/>
              <a:t>Then find and download 10 articles on your topic</a:t>
            </a:r>
          </a:p>
          <a:p>
            <a:pPr lvl="1"/>
            <a:r>
              <a:rPr/>
              <a:t>Upload all 10 to an AI system of your choice</a:t>
            </a:r>
          </a:p>
          <a:p>
            <a:pPr lvl="0"/>
            <a:r>
              <a:rPr/>
              <a:t>Practice:</a:t>
            </a:r>
          </a:p>
          <a:p>
            <a:pPr lvl="1"/>
            <a:r>
              <a:rPr/>
              <a:t>Build a conceptual map</a:t>
            </a:r>
          </a:p>
          <a:p>
            <a:pPr lvl="1"/>
            <a:r>
              <a:rPr/>
              <a:t>“Can you analyze the coverage as you see it for any gaps? Any perspectives not covered? Literature not included?”</a:t>
            </a:r>
          </a:p>
          <a:p>
            <a:pPr lvl="1"/>
            <a:r>
              <a:rPr/>
              <a:t>“Can you give me some readings to fill these gaps?”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Where we are at</a:t>
            </a:r>
          </a:p>
          <a:p>
            <a:pPr lvl="0"/>
            <a:r>
              <a:rPr/>
              <a:t>Introduction: Vibe Scholarship?</a:t>
            </a:r>
          </a:p>
          <a:p>
            <a:pPr lvl="0"/>
            <a:r>
              <a:rPr/>
              <a:t>How to </a:t>
            </a:r>
            <a:r>
              <a:rPr i="1"/>
              <a:t>read an article</a:t>
            </a:r>
            <a:r>
              <a:rPr/>
              <a:t> (with AI)</a:t>
            </a:r>
          </a:p>
          <a:p>
            <a:pPr lvl="0"/>
            <a:r>
              <a:rPr/>
              <a:t>How to </a:t>
            </a:r>
            <a:r>
              <a:rPr i="1"/>
              <a:t>search for literature</a:t>
            </a:r>
            <a:r>
              <a:rPr/>
              <a:t> (with AI)</a:t>
            </a:r>
          </a:p>
          <a:p>
            <a:pPr lvl="0"/>
            <a:r>
              <a:rPr/>
              <a:t>How to </a:t>
            </a:r>
            <a:r>
              <a:rPr i="1"/>
              <a:t>map a field</a:t>
            </a:r>
            <a:r>
              <a:rPr/>
              <a:t> (with AI)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Discussion</a:t>
            </a:r>
          </a:p>
          <a:p>
            <a:pPr lvl="0"/>
            <a:r>
              <a:rPr/>
              <a:t>Finally: what do you think of this ‘vibe’ scholarship process so far? What could be improved? What might some of your concerns be?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Homework: Continue to work on Conceptual Maps / Timelines</a:t>
            </a:r>
          </a:p>
          <a:p>
            <a:pPr lvl="0"/>
            <a:r>
              <a:rPr/>
              <a:t>Develop a small database (if you don’t have one)</a:t>
            </a:r>
          </a:p>
          <a:p>
            <a:pPr lvl="0"/>
            <a:r>
              <a:rPr/>
              <a:t>Create one or more conceptual maps (visual or verbal), using AI of your choice</a:t>
            </a:r>
          </a:p>
          <a:p>
            <a:pPr lvl="0"/>
            <a:r>
              <a:rPr/>
              <a:t>Analyze for missing perspectives / views</a:t>
            </a:r>
          </a:p>
          <a:p>
            <a:pPr lvl="0"/>
            <a:r>
              <a:rPr/>
              <a:t>Identify one or potential gaps</a:t>
            </a:r>
          </a:p>
          <a:p>
            <a:pPr lvl="0"/>
            <a:r>
              <a:rPr/>
              <a:t>Compare these gaps with your research topic or question. Do they align? Does your topic need narrowing?</a:t>
            </a:r>
          </a:p>
          <a:p>
            <a:pPr lvl="0"/>
            <a:r>
              <a:rPr/>
              <a:t>Finally: what do you think of this ‘vibe’ scholarship process so far? What could be improved?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Topics</a:t>
            </a:r>
          </a:p>
          <a:p>
            <a:pPr lvl="0"/>
            <a:r>
              <a:rPr/>
              <a:t>Does Artificial Intelligence Mean Artificial Knowledge? How AI is Impacting Academia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2025-11-05T13:40:34Z</dcterms:created>
  <dcterms:modified xsi:type="dcterms:W3CDTF">2025-11-05T13:40:34Z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graphy">
    <vt:lpwstr/>
  </property>
</Properties>
</file>