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5" Type="http://schemas.openxmlformats.org/officeDocument/2006/relationships/viewProps" Target="viewProps.xml" /><Relationship Id="rId3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7" Type="http://schemas.openxmlformats.org/officeDocument/2006/relationships/tableStyles" Target="tableStyles.xml" /><Relationship Id="rId3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3" Type="http://schemas.openxmlformats.org/officeDocument/2006/relationships/image" Target="../media/image2.png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cs.google.com/document/d/1wyWkvOju-FPXxWnpSlzrrgugqy0RdZGNL6S3Kh5wHd4/edit?tab=t.0" TargetMode="Externa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ldlprogram.web.illinois.edu/dissertation-resources/literature-review-guidelines/" TargetMode="External" /><Relationship Id="rId3" Type="http://schemas.openxmlformats.org/officeDocument/2006/relationships/hyperlink" Target="https://owl.purdue.edu/owl/research_and_citation/conducting_research/writing_a_literature_review.html" TargetMode="External" /><Relationship Id="rId4" Type="http://schemas.openxmlformats.org/officeDocument/2006/relationships/hyperlink" Target="https://writingcenter.unc.edu/tips-and-tools/literature-reviews/#:~:text=A%20literature%20review%20discusses%20published,combines%20both%20summary%20and%20synthesis." TargetMode="External" /><Relationship Id="rId5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cs.google.com/document/d/1wyWkvOju-FPXxWnpSlzrrgugqy0RdZGNL6S3Kh5wHd4/edit?tab=t.0" TargetMode="Externa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sciencepolicy.colorado.edu/students/envs_5110/snow_1959.pdf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590 Lecture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Week 2 - Anatomy of a Journal Article / Where’s the Gap? Mapping a Field</a:t>
            </a:r>
          </a:p>
          <a:p>
            <a:pPr lvl="0"/>
            <a:r>
              <a:rPr/>
              <a:t>Overview:</a:t>
            </a:r>
          </a:p>
          <a:p>
            <a:pPr lvl="1"/>
            <a:r>
              <a:rPr/>
              <a:t>What is a Journal Article? What is a Literature Review? (hours 1)</a:t>
            </a:r>
          </a:p>
          <a:p>
            <a:pPr lvl="1"/>
            <a:r>
              <a:rPr/>
              <a:t>Mapping a Field (and Minding the Gap) (hour 2)</a:t>
            </a:r>
          </a:p>
          <a:p>
            <a:pPr lvl="1"/>
            <a:r>
              <a:rPr/>
              <a:t>Design, Method and Structure of the Literature Review (hour 3)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Recap on Week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What is this course about? Do we need another course on academic literature?</a:t>
            </a:r>
          </a:p>
          <a:p>
            <a:pPr lvl="0"/>
            <a:r>
              <a:rPr/>
              <a:t>Foundational: How to Develop a Literature Review</a:t>
            </a:r>
          </a:p>
          <a:p>
            <a:pPr lvl="0"/>
            <a:r>
              <a:rPr/>
              <a:t>Future-Oriented: How AI is Impacting Academic Literature / Scholarship</a:t>
            </a:r>
          </a:p>
          <a:p>
            <a:pPr lvl="0"/>
            <a:r>
              <a:rPr/>
              <a:t>Mix of Theory and Practice</a:t>
            </a:r>
          </a:p>
          <a:p>
            <a:pPr lvl="0" indent="0" marL="0">
              <a:buNone/>
            </a:pPr>
            <a:r>
              <a:rPr/>
              <a:t>How do you build a sense of your field and its gaps? This course aims to make sense of a term – academic literature – at once mundane and mystical. It starts with fundamentals: how to build, annotate, analyze, map and translate a literature database into a literature review. It progresses to think about how AI and other technology can help foster more critical, analytic and reflexive modes of interpretation and understandings of the field.</a:t>
            </a:r>
          </a:p>
          <a:p>
            <a:pPr lvl="0" indent="0" marL="0">
              <a:buNone/>
            </a:pPr>
            <a:r>
              <a:rPr/>
              <a:t>All required material (video lectures, readings etc.) will be provided to students.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Recap on Week 1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Theory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Practice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Assessment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Course Overview / Anatomy of a Journal Article / What Makes a Good Research Question?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Tools for Literature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First Draft of Research Topic / Research Question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Academic Audiences and Techniques of Persuasion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Where’s the Gap? Mapping a Field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Design, Method and Structure of the Literature Review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Artificial Intelligence Mean Artificial Knowledge? How AI is Impacting Academia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Vibe Scholarship (Is It as Bad as It Sounds?)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Concept Map of the Literature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Finding Your Scholarly Voice: Peers / Audience / Venue / Field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Drafting a section of your review in a </a:t>
                      </a:r>
                      <a:r>
                        <a:rPr i="1"/>
                        <a:t>scientific</a:t>
                      </a:r>
                      <a:r>
                        <a:rPr/>
                        <a:t> and </a:t>
                      </a:r>
                      <a:r>
                        <a:rPr i="1"/>
                        <a:t>humanities</a:t>
                      </a:r>
                      <a:r>
                        <a:rPr/>
                        <a:t> mode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Literature Review Sample: In the Scientific Mode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“What Do I Know?” Towards A Sociology of Knowledge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Framing Language: “Carry” Your Reader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Frame up your Literature Review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Reflexive Researcher and Interpreting Scholarship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Reflecting on your positionality vis-a-vis interpretation; drafting a statement about AI’s epistemic role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Statement on the Use of AI in Your Literature Review / Reflection on the Role of AI in Academia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Automatic Academy? The Future of Scholarship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Compiling a complete literature review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Final Literature Review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Anatomy of a Journal Article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Think back to Weber: the “Journal Article” is the vehicle of choice for transmitting science (German: </a:t>
            </a:r>
            <a:r>
              <a:rPr i="1"/>
              <a:t>Wissenschaft</a:t>
            </a:r>
            <a:r>
              <a:rPr/>
              <a:t>, or what we would call knowledge)</a:t>
            </a:r>
          </a:p>
          <a:p>
            <a:pPr lvl="0"/>
            <a:r>
              <a:rPr/>
              <a:t>We read dozens, hundreds, thousands…</a:t>
            </a:r>
          </a:p>
          <a:p>
            <a:pPr lvl="0"/>
            <a:r>
              <a:rPr/>
              <a:t>Our life is conditioned by the results of journal articles</a:t>
            </a:r>
          </a:p>
          <a:p>
            <a:pPr lvl="1"/>
            <a:r>
              <a:rPr/>
              <a:t>For example, “AI” is today completely dominated by a single paper, “Attention is All You Need” (GS cites: &gt; 200K)</a:t>
            </a:r>
          </a:p>
          <a:p>
            <a:pPr lvl="0"/>
            <a:r>
              <a:rPr/>
              <a:t>But what </a:t>
            </a:r>
            <a:r>
              <a:rPr i="1"/>
              <a:t>is</a:t>
            </a:r>
            <a:r>
              <a:rPr/>
              <a:t> a journal article? How do you </a:t>
            </a:r>
            <a:r>
              <a:rPr i="1"/>
              <a:t>analyze</a:t>
            </a:r>
            <a:r>
              <a:rPr/>
              <a:t> one? How do you </a:t>
            </a:r>
            <a:r>
              <a:rPr i="1"/>
              <a:t>write</a:t>
            </a:r>
            <a:r>
              <a:rPr/>
              <a:t> one?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Quick history:</a:t>
            </a:r>
          </a:p>
          <a:p>
            <a:pPr lvl="0"/>
            <a:r>
              <a:rPr/>
              <a:t>The “journal” is a recent invention</a:t>
            </a:r>
          </a:p>
          <a:p>
            <a:pPr lvl="0"/>
            <a:r>
              <a:rPr/>
              <a:t>Convenient communication of science (17-19th centuries)</a:t>
            </a:r>
          </a:p>
          <a:p>
            <a:pPr lvl="0"/>
            <a:r>
              <a:rPr/>
              <a:t>Involves the following “ontology”:</a:t>
            </a:r>
          </a:p>
          <a:p>
            <a:pPr lvl="1"/>
            <a:r>
              <a:rPr/>
              <a:t>A collection of </a:t>
            </a:r>
            <a:r>
              <a:rPr b="1"/>
              <a:t>articles</a:t>
            </a:r>
          </a:p>
          <a:p>
            <a:pPr lvl="1"/>
            <a:r>
              <a:rPr b="1"/>
              <a:t>bold text</a:t>
            </a:r>
            <a:r>
              <a:rPr/>
              <a:t>Authors of the article</a:t>
            </a:r>
          </a:p>
          <a:p>
            <a:pPr lvl="1"/>
            <a:r>
              <a:rPr/>
              <a:t>An </a:t>
            </a:r>
            <a:r>
              <a:rPr b="1"/>
              <a:t>editor</a:t>
            </a:r>
            <a:r>
              <a:rPr/>
              <a:t> (who reviews and assembles articles)</a:t>
            </a:r>
          </a:p>
          <a:p>
            <a:pPr lvl="2"/>
            <a:r>
              <a:rPr b="1"/>
              <a:t>Peer reviewers</a:t>
            </a:r>
            <a:r>
              <a:rPr/>
              <a:t> (other scholars who the editor invites to review articles)</a:t>
            </a:r>
          </a:p>
          <a:p>
            <a:pPr lvl="1"/>
            <a:r>
              <a:rPr/>
              <a:t>A </a:t>
            </a:r>
            <a:r>
              <a:rPr b="1"/>
              <a:t>publisher</a:t>
            </a:r>
            <a:r>
              <a:rPr/>
              <a:t> (who </a:t>
            </a:r>
            <a:r>
              <a:rPr i="1"/>
              <a:t>recruits</a:t>
            </a:r>
            <a:r>
              <a:rPr/>
              <a:t> the editor, </a:t>
            </a:r>
            <a:r>
              <a:rPr i="1"/>
              <a:t>typesets</a:t>
            </a:r>
            <a:r>
              <a:rPr/>
              <a:t>, </a:t>
            </a:r>
            <a:r>
              <a:rPr i="1"/>
              <a:t>sells</a:t>
            </a:r>
            <a:r>
              <a:rPr/>
              <a:t> and </a:t>
            </a:r>
            <a:r>
              <a:rPr i="1"/>
              <a:t>distributes</a:t>
            </a:r>
            <a:r>
              <a:rPr/>
              <a:t> the journal to readers)</a:t>
            </a:r>
          </a:p>
          <a:p>
            <a:pPr lvl="1"/>
            <a:r>
              <a:rPr/>
              <a:t>A </a:t>
            </a:r>
            <a:r>
              <a:rPr b="1"/>
              <a:t>readership</a:t>
            </a:r>
            <a:r>
              <a:rPr/>
              <a:t> (who subscribes to the journal - very often </a:t>
            </a:r>
            <a:r>
              <a:rPr b="1"/>
              <a:t>university libraries</a:t>
            </a:r>
            <a:r>
              <a:rPr/>
              <a:t>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Aside: Perversity of Publishing</a:t>
            </a:r>
          </a:p>
          <a:p>
            <a:pPr lvl="0"/>
            <a:r>
              <a:rPr b="1"/>
              <a:t>University libraries</a:t>
            </a:r>
            <a:r>
              <a:rPr/>
              <a:t> pay subscriptions to the </a:t>
            </a:r>
            <a:r>
              <a:rPr b="1"/>
              <a:t>publisher</a:t>
            </a:r>
            <a:r>
              <a:rPr/>
              <a:t> for articles that its own employees have authored (and edited and reviewed)</a:t>
            </a:r>
          </a:p>
          <a:p>
            <a:pPr lvl="1"/>
            <a:r>
              <a:rPr b="1"/>
              <a:t>Why?</a:t>
            </a:r>
          </a:p>
          <a:p>
            <a:pPr lvl="0"/>
            <a:r>
              <a:rPr/>
              <a:t>Are there alternatives?</a:t>
            </a:r>
          </a:p>
          <a:p>
            <a:pPr lvl="1"/>
            <a:r>
              <a:rPr/>
              <a:t>Open access publishing (but questions of sustainability of volunteer labour / reputation / distribution reach)</a:t>
            </a:r>
          </a:p>
          <a:p>
            <a:pPr lvl="1"/>
            <a:r>
              <a:rPr/>
              <a:t>Rise of “predatory publishing” (&amp; dreaded “Article Processing Charge” - upto $8K USD)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the purpose of an article?</a:t>
            </a:r>
          </a:p>
          <a:p>
            <a:pPr lvl="0"/>
            <a:r>
              <a:rPr/>
              <a:t>An article makes an </a:t>
            </a:r>
            <a:r>
              <a:rPr b="1"/>
              <a:t>argument</a:t>
            </a:r>
          </a:p>
          <a:p>
            <a:pPr lvl="0"/>
            <a:r>
              <a:rPr/>
              <a:t>As such, it is a form of </a:t>
            </a:r>
            <a:r>
              <a:rPr b="1"/>
              <a:t>persuasive</a:t>
            </a:r>
            <a:r>
              <a:rPr/>
              <a:t> writing</a:t>
            </a:r>
          </a:p>
          <a:p>
            <a:pPr lvl="1"/>
            <a:r>
              <a:rPr/>
              <a:t>It aims to </a:t>
            </a:r>
            <a:r>
              <a:rPr b="1"/>
              <a:t>change the mind</a:t>
            </a:r>
            <a:r>
              <a:rPr/>
              <a:t> of a reader</a:t>
            </a:r>
          </a:p>
          <a:p>
            <a:pPr lvl="1"/>
            <a:r>
              <a:rPr/>
              <a:t>But to do so, it must use </a:t>
            </a:r>
            <a:r>
              <a:rPr b="1"/>
              <a:t>evidence</a:t>
            </a:r>
            <a:r>
              <a:rPr/>
              <a:t> (and other things)</a:t>
            </a:r>
          </a:p>
          <a:p>
            <a:pPr lvl="0"/>
            <a:r>
              <a:rPr/>
              <a:t>All the parts of an article should contribute to this aim: </a:t>
            </a:r>
            <a:r>
              <a:rPr b="1"/>
              <a:t>persuasion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Another aside: AI Authorship of Journals</a:t>
            </a:r>
          </a:p>
          <a:p>
            <a:pPr lvl="0"/>
            <a:r>
              <a:rPr/>
              <a:t>Would you read an article by a </a:t>
            </a:r>
            <a:r>
              <a:rPr b="1"/>
              <a:t>bot</a:t>
            </a:r>
            <a:r>
              <a:rPr/>
              <a:t>? Under what circumstances?</a:t>
            </a:r>
          </a:p>
          <a:p>
            <a:pPr lvl="0"/>
            <a:r>
              <a:rPr/>
              <a:t>What about a math paper?</a:t>
            </a:r>
          </a:p>
        </p:txBody>
      </p:sp>
      <p:pic>
        <p:nvPicPr>
          <p:cNvPr descr="images/pasted-image-2025-10-24T14-24-09-631Z-f69f72d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04900"/>
            <a:ext cx="5105400" cy="2057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Image</a:t>
            </a:r>
          </a:p>
        </p:txBody>
      </p:sp>
      <p:pic>
        <p:nvPicPr>
          <p:cNvPr descr="images/pasted-image-2025-10-24T14-25-57-365Z-f250bc3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292100"/>
            <a:ext cx="5105400" cy="3695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Image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Typical structure of an Article</a:t>
            </a:r>
          </a:p>
          <a:p>
            <a:pPr lvl="0"/>
            <a:r>
              <a:rPr/>
              <a:t>Introduction</a:t>
            </a:r>
          </a:p>
          <a:p>
            <a:pPr lvl="0"/>
            <a:r>
              <a:rPr/>
              <a:t>Literature Review</a:t>
            </a:r>
          </a:p>
          <a:p>
            <a:pPr lvl="0"/>
            <a:r>
              <a:rPr/>
              <a:t>Methodology</a:t>
            </a:r>
          </a:p>
          <a:p>
            <a:pPr lvl="0"/>
            <a:r>
              <a:rPr/>
              <a:t>Findings</a:t>
            </a:r>
          </a:p>
          <a:p>
            <a:pPr lvl="0"/>
            <a:r>
              <a:rPr/>
              <a:t>Results</a:t>
            </a:r>
          </a:p>
          <a:p>
            <a:pPr lvl="0"/>
            <a:r>
              <a:rPr/>
              <a:t>Conclusion</a:t>
            </a:r>
          </a:p>
          <a:p>
            <a:pPr lvl="0"/>
            <a:r>
              <a:rPr/>
              <a:t>But </a:t>
            </a:r>
            <a:r>
              <a:rPr b="1"/>
              <a:t>why</a:t>
            </a:r>
            <a:r>
              <a:rPr/>
              <a:t>? Why these parts?</a:t>
            </a:r>
          </a:p>
          <a:p>
            <a:pPr lvl="0" indent="0" marL="0">
              <a:buNone/>
            </a:pPr>
            <a:r>
              <a:rPr/>
              <a:t>Let’s answer this collaboratively: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ERAM 590 - Google Docs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a literature review?</a:t>
            </a:r>
          </a:p>
          <a:p>
            <a:pPr lvl="0" indent="0" marL="0">
              <a:buNone/>
            </a:pPr>
            <a:r>
              <a:rPr/>
              <a:t>Lots of answers, lots of guidance…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Literature Review Guidelines – Learning Design and Leadership (LDL) Program</a:t>
            </a:r>
          </a:p>
          <a:p>
            <a:pPr lvl="0" indent="0" marL="0">
              <a:buNone/>
            </a:pPr>
            <a:r>
              <a:rPr>
                <a:hlinkClick r:id="rId3"/>
              </a:rPr>
              <a:t>Writing a Literature Review - Purdue OWL® - Purdue University</a:t>
            </a:r>
          </a:p>
          <a:p>
            <a:pPr lvl="0" indent="0" marL="0">
              <a:buNone/>
            </a:pPr>
            <a:r>
              <a:rPr>
                <a:hlinkClick r:id="rId4"/>
              </a:rPr>
              <a:t>Literature Reviews – The Writing Center • University of North Carolina at Chapel Hill</a:t>
            </a:r>
          </a:p>
        </p:txBody>
      </p:sp>
      <p:pic>
        <p:nvPicPr>
          <p:cNvPr descr="images/pasted-image-2025-10-24T12-44-52-384Z-eb86c677.png" id="0" name="Picture 1"/>
          <p:cNvPicPr>
            <a:picLocks noGrp="1"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3670300" y="203200"/>
            <a:ext cx="49022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Image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Designing a Literature Review</a:t>
            </a:r>
          </a:p>
          <a:p>
            <a:pPr lvl="0"/>
            <a:r>
              <a:rPr/>
              <a:t>We have a Research Question / Topic</a:t>
            </a:r>
          </a:p>
          <a:p>
            <a:pPr lvl="0"/>
            <a:r>
              <a:rPr/>
              <a:t>What’s next? Just blast out a search on Google Scholar / University Website? Build a list of references, annotate, summarize, organize? Find the gap?</a:t>
            </a:r>
          </a:p>
          <a:p>
            <a:pPr lvl="1"/>
            <a:r>
              <a:rPr/>
              <a:t>But can come across as arbitrary</a:t>
            </a:r>
          </a:p>
          <a:p>
            <a:pPr lvl="0"/>
            <a:r>
              <a:rPr b="1"/>
              <a:t>Or</a:t>
            </a:r>
            <a:r>
              <a:rPr/>
              <a:t>: think of the Literature Review as a mini-research project within the project ( / article / dissertation)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Learn from Marx?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Order of </a:t>
            </a:r>
            <a:r>
              <a:rPr b="1"/>
              <a:t>analysis</a:t>
            </a:r>
            <a:r>
              <a:rPr/>
              <a:t> is different from order of </a:t>
            </a:r>
            <a:r>
              <a:rPr b="1"/>
              <a:t>presentation</a:t>
            </a:r>
          </a:p>
          <a:p>
            <a:pPr lvl="1"/>
            <a:r>
              <a:rPr/>
              <a:t>In analysis we go from concrete (stuff we see) to abstract (concepts of thought)</a:t>
            </a:r>
          </a:p>
          <a:p>
            <a:pPr lvl="1"/>
            <a:r>
              <a:rPr/>
              <a:t>In presentation, we go from abstract (concepts) to concrete (the world of experience) - </a:t>
            </a:r>
            <a:r>
              <a:rPr b="1"/>
              <a:t>explaining</a:t>
            </a:r>
            <a:r>
              <a:rPr/>
              <a:t> the world of experience</a:t>
            </a:r>
          </a:p>
        </p:txBody>
      </p:sp>
      <p:pic>
        <p:nvPicPr>
          <p:cNvPr descr="images/pasted-image-2025-10-27T20-32-03-568Z-232d5b7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191000" y="203200"/>
            <a:ext cx="38735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Image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Google Gemini’s view</a:t>
            </a:r>
          </a:p>
          <a:p>
            <a:pPr lvl="0" indent="0" marL="0">
              <a:buNone/>
            </a:pPr>
            <a:r>
              <a:rPr/>
              <a:t>“create an image showing how a literature review is a mini-argument embedded within the larger argument of an article or dissertation”</a:t>
            </a:r>
          </a:p>
        </p:txBody>
      </p:sp>
      <p:pic>
        <p:nvPicPr>
          <p:cNvPr descr="images/pasted-image-2025-10-24T16-22-25-539Z-312a91eb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191000" y="203200"/>
            <a:ext cx="38735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Image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Hour 2 (might get here early)…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Mapping Fields and Minding Gaps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What’s the “research question” of the Literature Review</a:t>
            </a:r>
          </a:p>
          <a:p>
            <a:pPr lvl="0"/>
            <a:r>
              <a:rPr/>
              <a:t>What’s the gap in the literature? (should eventually coincide with the research question)</a:t>
            </a:r>
          </a:p>
          <a:p>
            <a:pPr lvl="1"/>
            <a:r>
              <a:rPr/>
              <a:t>What are you </a:t>
            </a:r>
            <a:r>
              <a:rPr i="1"/>
              <a:t>arguing</a:t>
            </a:r>
            <a:r>
              <a:rPr/>
              <a:t>? That this gap exists… (perhaps other things too)</a:t>
            </a:r>
          </a:p>
          <a:p>
            <a:pPr lvl="0"/>
            <a:r>
              <a:rPr/>
              <a:t>Develop a </a:t>
            </a:r>
            <a:r>
              <a:rPr i="1"/>
              <a:t>Methodology</a:t>
            </a:r>
            <a:r>
              <a:rPr/>
              <a:t>:</a:t>
            </a:r>
          </a:p>
          <a:p>
            <a:pPr lvl="1"/>
            <a:r>
              <a:rPr/>
              <a:t>Choose relevant search terms (think about AI’s ability to translate the terms you think of to the ones you don’t)</a:t>
            </a:r>
          </a:p>
          <a:p>
            <a:pPr lvl="2"/>
            <a:r>
              <a:rPr/>
              <a:t>Pick a couple of relevant articles and read the references</a:t>
            </a:r>
          </a:p>
          <a:p>
            <a:pPr lvl="1"/>
            <a:r>
              <a:rPr/>
              <a:t>Choose an organization principles:</a:t>
            </a:r>
          </a:p>
          <a:p>
            <a:pPr lvl="2"/>
            <a:r>
              <a:rPr/>
              <a:t>Organize by theme? What are the themes?</a:t>
            </a:r>
          </a:p>
          <a:p>
            <a:pPr lvl="2"/>
            <a:r>
              <a:rPr/>
              <a:t>Organize by time? How have debates on topic X </a:t>
            </a:r>
            <a:r>
              <a:rPr i="1"/>
              <a:t>evolved</a:t>
            </a:r>
            <a:r>
              <a:rPr/>
              <a:t>?</a:t>
            </a:r>
          </a:p>
          <a:p>
            <a:pPr lvl="0"/>
            <a:r>
              <a:rPr/>
              <a:t>Construct an </a:t>
            </a:r>
            <a:r>
              <a:rPr i="1"/>
              <a:t>Introduction</a:t>
            </a:r>
            <a:r>
              <a:rPr/>
              <a:t> and </a:t>
            </a:r>
            <a:r>
              <a:rPr i="1"/>
              <a:t>Conclusion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Metaphors of Knowledge: Navigating fields and finding gaps</a:t>
            </a:r>
          </a:p>
          <a:p>
            <a:pPr lvl="0"/>
            <a:r>
              <a:rPr/>
              <a:t>What is the </a:t>
            </a:r>
            <a:r>
              <a:rPr b="1"/>
              <a:t>field</a:t>
            </a:r>
            <a:r>
              <a:rPr/>
              <a:t>? Talk your reader through it…</a:t>
            </a:r>
          </a:p>
          <a:p>
            <a:pPr lvl="0"/>
            <a:r>
              <a:rPr/>
              <a:t>What is the </a:t>
            </a:r>
            <a:r>
              <a:rPr b="1"/>
              <a:t>gap</a:t>
            </a:r>
            <a:r>
              <a:rPr/>
              <a:t>? Tell your reader how you get there…</a:t>
            </a:r>
          </a:p>
          <a:p>
            <a:pPr lvl="1"/>
            <a:r>
              <a:rPr/>
              <a:t>work backwards - find the gap, </a:t>
            </a:r>
            <a:r>
              <a:rPr i="1"/>
              <a:t>then</a:t>
            </a:r>
            <a:r>
              <a:rPr/>
              <a:t> organize the steps…</a:t>
            </a:r>
          </a:p>
          <a:p>
            <a:pPr lvl="0"/>
            <a:r>
              <a:rPr/>
              <a:t>Use the language of </a:t>
            </a:r>
            <a:r>
              <a:rPr i="1"/>
              <a:t>argument</a:t>
            </a:r>
            <a:r>
              <a:rPr/>
              <a:t> / </a:t>
            </a:r>
            <a:r>
              <a:rPr i="1"/>
              <a:t>metadiscourse</a:t>
            </a:r>
            <a:r>
              <a:rPr/>
              <a:t>:</a:t>
            </a:r>
          </a:p>
          <a:p>
            <a:pPr lvl="1"/>
            <a:r>
              <a:rPr/>
              <a:t>If we are on a “path” through the “field”, join the dots:</a:t>
            </a:r>
          </a:p>
          <a:p>
            <a:pPr lvl="2"/>
            <a:r>
              <a:rPr/>
              <a:t>Move up / down: general - specific</a:t>
            </a:r>
          </a:p>
          <a:p>
            <a:pPr lvl="3"/>
            <a:r>
              <a:rPr/>
              <a:t>“More generally…”, “At an abstract level”, “Theoretically…”, “Globally / Nationally…”</a:t>
            </a:r>
          </a:p>
          <a:p>
            <a:pPr lvl="3"/>
            <a:r>
              <a:rPr/>
              <a:t>“More specifically…”, “At an concrete level”, “Pratically”, “Locally</a:t>
            </a:r>
          </a:p>
          <a:p>
            <a:pPr lvl="2"/>
            <a:r>
              <a:rPr/>
              <a:t>Move side to side: similar - different</a:t>
            </a:r>
          </a:p>
          <a:p>
            <a:pPr lvl="3"/>
            <a:r>
              <a:rPr/>
              <a:t>“Similarly…”, “Along the same lines…”,</a:t>
            </a:r>
          </a:p>
          <a:p>
            <a:pPr lvl="3"/>
            <a:r>
              <a:rPr/>
              <a:t>“However…”, “Conversely…”, “On the other hand…”, “In contrast…”</a:t>
            </a:r>
          </a:p>
          <a:p>
            <a:pPr lvl="1"/>
            <a:r>
              <a:rPr/>
              <a:t>“Control” your navigation:</a:t>
            </a:r>
          </a:p>
          <a:p>
            <a:pPr lvl="2"/>
            <a:r>
              <a:rPr/>
              <a:t>“This review </a:t>
            </a:r>
            <a:r>
              <a:rPr i="1"/>
              <a:t>will</a:t>
            </a:r>
            <a:r>
              <a:rPr/>
              <a:t> cover…”, “The literature describes several facets of…”</a:t>
            </a:r>
          </a:p>
          <a:p>
            <a:pPr lvl="2"/>
            <a:r>
              <a:rPr/>
              <a:t>Add some drama: “Meanwhile…”, “Despite…”, “X has dispute Y’s findings…”</a:t>
            </a:r>
          </a:p>
          <a:p>
            <a:pPr lvl="2"/>
            <a:r>
              <a:rPr/>
              <a:t>“This review </a:t>
            </a:r>
            <a:r>
              <a:rPr i="1"/>
              <a:t>has</a:t>
            </a:r>
            <a:r>
              <a:rPr/>
              <a:t> covered…”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Work it like a Puzzle</a:t>
            </a:r>
          </a:p>
          <a:p>
            <a:pPr lvl="0"/>
            <a:r>
              <a:rPr/>
              <a:t>Look at the whole picture - does it make sense?</a:t>
            </a:r>
          </a:p>
          <a:p>
            <a:pPr lvl="0"/>
            <a:r>
              <a:rPr/>
              <a:t>Fill it in piece by piece</a:t>
            </a:r>
          </a:p>
          <a:p>
            <a:pPr lvl="0"/>
            <a:r>
              <a:rPr/>
              <a:t>Iterate - whole to part, part to whole</a:t>
            </a:r>
          </a:p>
          <a:p>
            <a:pPr lvl="0"/>
            <a:r>
              <a:rPr/>
              <a:t>More vocabularly: the </a:t>
            </a:r>
            <a:r>
              <a:rPr i="1"/>
              <a:t>Hermeneutic Circle</a:t>
            </a:r>
          </a:p>
          <a:p>
            <a:pPr lvl="1"/>
            <a:r>
              <a:rPr/>
              <a:t>Understand the Whole (in order to Interpret the Path)</a:t>
            </a:r>
          </a:p>
          <a:p>
            <a:pPr lvl="1"/>
            <a:r>
              <a:rPr/>
              <a:t>Interpret the Path (in order to Understanding the Whole)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Common Pitfalls</a:t>
            </a:r>
          </a:p>
          <a:p>
            <a:pPr lvl="0"/>
            <a:r>
              <a:rPr/>
              <a:t>The Annotated Bibliography and the Literature Review</a:t>
            </a:r>
          </a:p>
          <a:p>
            <a:pPr lvl="0"/>
            <a:r>
              <a:rPr/>
              <a:t>Tone: Navigating The Two Cultures (see Snow 1959)</a:t>
            </a:r>
          </a:p>
          <a:p>
            <a:pPr lvl="0"/>
            <a:r>
              <a:rPr/>
              <a:t>Lack of Signposting / metadiscourse / discourse markers / rhetorical statements</a:t>
            </a:r>
          </a:p>
          <a:p>
            <a:pPr lvl="0"/>
            <a:r>
              <a:rPr/>
              <a:t>Lack of persuasive purpose</a:t>
            </a:r>
          </a:p>
          <a:p>
            <a:pPr lvl="0"/>
            <a:r>
              <a:rPr/>
              <a:t>Laundry list of gaps -&gt; Narrow down on the one / two that you are likely to follow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More on tone…</a:t>
            </a:r>
          </a:p>
          <a:p>
            <a:pPr lvl="0"/>
            <a:r>
              <a:rPr/>
              <a:t>Tone: Navigating The Two Cultures (see Snow 1959)</a:t>
            </a:r>
          </a:p>
          <a:p>
            <a:pPr lvl="0"/>
            <a:r>
              <a:rPr/>
              <a:t>Scientist / Quantitative / Positivist</a:t>
            </a:r>
          </a:p>
          <a:p>
            <a:pPr lvl="1"/>
            <a:r>
              <a:rPr/>
              <a:t>Lots of 3rd person / passive voice (“It was observed that…”) - But note, this is changing</a:t>
            </a:r>
          </a:p>
          <a:p>
            <a:pPr lvl="0"/>
            <a:r>
              <a:rPr/>
              <a:t>Humanist / Qualitative / Post-positivist or Interpretivist or Constuctivist</a:t>
            </a:r>
          </a:p>
          <a:p>
            <a:pPr lvl="1"/>
            <a:r>
              <a:rPr/>
              <a:t>More 1st person / active voice (“We noticed that”)</a:t>
            </a:r>
          </a:p>
          <a:p>
            <a:pPr lvl="0"/>
            <a:r>
              <a:rPr/>
              <a:t>In the field of education, both “cultures” co-exist (sometimes even peacefully)</a:t>
            </a:r>
          </a:p>
          <a:p>
            <a:pPr lvl="0"/>
            <a:r>
              <a:rPr/>
              <a:t>How do you decide on your tone?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 (or Three) (Pseudo-)Random Articles</a:t>
            </a:r>
          </a:p>
          <a:p>
            <a:pPr lvl="0" indent="-342900" marL="342900">
              <a:buAutoNum type="arabicPeriod"/>
            </a:pPr>
            <a:r>
              <a:rPr/>
              <a:t>Keerthiraj, &amp; Misra, A. (2025). Who owns the future? AI, digital sovereignty, and the politics of knowledge. AI &amp; SOCIETY, 1-13. https://link.springer.com/article/10.1007/s00146-025-02641-y</a:t>
            </a:r>
            <a:br/>
          </a:p>
          <a:p>
            <a:pPr lvl="0" indent="-342900" marL="342900">
              <a:buAutoNum type="arabicPeriod"/>
            </a:pPr>
            <a:r>
              <a:rPr/>
              <a:t>Liu, J., Zhang, Y., Li, W., Wang, Q., Niu, P., &amp; Zhang, X. (2025). Adaptive vs. Planned Metacognitive Scaffolding for Computational Thinking: Evidence from Generative AI-Supported Programming in Elementary Education. Computers &amp; Education, 105473. https://www.sciencedirect.com/science/article/pii/S0360131525002416?casa_token=cBNpQ0r7f4oAAAAA:THnluE0eVY1uTJ3bnp1V6j-fsLEXobOB6QqoszFx_hsNacpAVPMmIe61gO70IXtFPiT2vIRcGPk</a:t>
            </a:r>
          </a:p>
          <a:p>
            <a:pPr lvl="0" indent="-342900" marL="342900">
              <a:buAutoNum type="arabicPeriod"/>
            </a:pPr>
            <a:r>
              <a:rPr/>
              <a:t>Spivak, G. C. (2023). Can the subaltern speak?. In Imperialism (pp. 171-219). Routledge. http://users.uoa.gr/~cdokou/TheoryCriticismTexts/Spivak-Subaltern.pdf</a:t>
            </a:r>
          </a:p>
          <a:p>
            <a:pPr lvl="0"/>
            <a:r>
              <a:rPr/>
              <a:t>Why these two (three) examples? Contrasting methods, yes - but more than this, these articles reflect different orientations towards </a:t>
            </a:r>
            <a:r>
              <a:rPr i="1"/>
              <a:t>scholarly techniques of persuasion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First: What do we do when we open an article?</a:t>
            </a:r>
          </a:p>
          <a:p>
            <a:pPr lvl="0"/>
            <a:r>
              <a:rPr/>
              <a:t>What are the different ways of reading?</a:t>
            </a:r>
          </a:p>
          <a:p>
            <a:pPr lvl="0"/>
            <a:r>
              <a:rPr/>
              <a:t>2 Common Strategies:</a:t>
            </a:r>
          </a:p>
          <a:p>
            <a:pPr lvl="1"/>
            <a:r>
              <a:rPr/>
              <a:t>Top to bottom</a:t>
            </a:r>
          </a:p>
          <a:p>
            <a:pPr lvl="1"/>
            <a:r>
              <a:rPr/>
              <a:t>Abstract, Introduction, Conclusion - then the rest</a:t>
            </a:r>
          </a:p>
          <a:p>
            <a:pPr lvl="0"/>
            <a:r>
              <a:rPr/>
              <a:t>Sometimes:</a:t>
            </a:r>
          </a:p>
          <a:p>
            <a:pPr lvl="1"/>
            <a:r>
              <a:rPr/>
              <a:t>Literature Review first</a:t>
            </a:r>
          </a:p>
          <a:p>
            <a:pPr lvl="1"/>
            <a:r>
              <a:rPr/>
              <a:t>Methodology first (what did the researchers do?)</a:t>
            </a:r>
          </a:p>
          <a:p>
            <a:pPr lvl="1"/>
            <a:r>
              <a:rPr/>
              <a:t>References first (what “space” of academia does this belong in?)</a:t>
            </a:r>
          </a:p>
          <a:p>
            <a:pPr lvl="0" indent="0" marL="0">
              <a:buNone/>
            </a:pPr>
            <a:r>
              <a:rPr/>
              <a:t>Other ideas?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ERAM 590 - Google Docs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Who owns the future? AI, digital sovereignty, and the politics of knowledge </a:t>
            </a:r>
            <a:r>
              <a:rPr b="1" i="1"/>
              <a:t>Keerthiraj, &amp; Misra, A. (2025)</a:t>
            </a:r>
          </a:p>
          <a:p>
            <a:pPr lvl="0" indent="0" marL="0">
              <a:buNone/>
            </a:pPr>
            <a:r>
              <a:rPr/>
              <a:t>Keerthiraj, &amp; Misra, A. (2025). Who owns the future? AI, digital sovereignty, and the politics of knowledge. AI &amp; SOCIETY, 1-13. https://link.springer.com/article/10.1007/s00146-025-02641-y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Adaptive vs. Planned Metacognitive Scaffolding for Computational Thinking</a:t>
            </a:r>
          </a:p>
          <a:p>
            <a:pPr lvl="0" indent="0" marL="0">
              <a:buNone/>
            </a:pPr>
            <a:r>
              <a:rPr/>
              <a:t>Liu, J., Zhang, Y., Li, W., Wang, Q., Niu, P., &amp; Zhang, X. (2025). Adaptive vs. Planned Metacognitive Scaffolding for Computational Thinking: Evidence from Generative AI-Supported Programming in Elementary Education. Computers &amp; Education, 105473. https://www.sciencedirect.com/science/article/pii/S0360131525002416?casa_token=cBNpQ0r7f4oAAAAA:THnluE0eVY1uTJ3bnp1V6j-fsLEXobOB6QqoszFx_hsNacpAVPMmIe61gO70IXtFPiT2vIRcGPk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Can the subaltern speak?</a:t>
            </a:r>
          </a:p>
          <a:p>
            <a:pPr lvl="0" indent="0" marL="0">
              <a:buNone/>
            </a:pPr>
            <a:r>
              <a:rPr/>
              <a:t>Spivak, G. C. (2023). Can the subaltern speak?. In Imperialism (pp. 171-219). Routledge. http://users.uoa.gr/~cdokou/TheoryCriticismTexts/Spivak-Subaltern.pdf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Hour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Designing a Literature Review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Checklist:</a:t>
            </a:r>
          </a:p>
          <a:p>
            <a:pPr lvl="0" indent="-342900" marL="342900">
              <a:buAutoNum type="arabicPeriod"/>
            </a:pPr>
            <a:r>
              <a:rPr/>
              <a:t>What are the key terms of the (draft) research question? List them…</a:t>
            </a:r>
          </a:p>
          <a:p>
            <a:pPr lvl="0" indent="-342900" marL="342900">
              <a:buAutoNum type="arabicPeriod"/>
            </a:pPr>
            <a:r>
              <a:rPr/>
              <a:t>What are the </a:t>
            </a:r>
            <a:r>
              <a:rPr i="1"/>
              <a:t>norms</a:t>
            </a:r>
            <a:r>
              <a:rPr/>
              <a:t> of your field? And what </a:t>
            </a:r>
            <a:r>
              <a:rPr i="1"/>
              <a:t>is</a:t>
            </a:r>
            <a:r>
              <a:rPr/>
              <a:t> your field?</a:t>
            </a:r>
          </a:p>
          <a:p>
            <a:pPr lvl="0" indent="-342900" marL="342900">
              <a:buAutoNum type="arabicPeriod"/>
            </a:pPr>
            <a:r>
              <a:rPr/>
              <a:t>What is a reasonable </a:t>
            </a:r>
            <a:r>
              <a:rPr i="1"/>
              <a:t>method</a:t>
            </a:r>
            <a:r>
              <a:rPr/>
              <a:t> or </a:t>
            </a:r>
            <a:r>
              <a:rPr i="1"/>
              <a:t>recipe</a:t>
            </a:r>
            <a:r>
              <a:rPr/>
              <a:t> for your literature review?</a:t>
            </a:r>
          </a:p>
          <a:p>
            <a:pPr lvl="0" indent="-342900" marL="342900">
              <a:buAutoNum type="arabicPeriod"/>
            </a:pPr>
            <a:r>
              <a:rPr/>
              <a:t>What are </a:t>
            </a:r>
            <a:r>
              <a:rPr i="1"/>
              <a:t>related terms</a:t>
            </a:r>
            <a:r>
              <a:rPr/>
              <a:t> (can AI find reasonable synonyms)?</a:t>
            </a:r>
          </a:p>
          <a:p>
            <a:pPr lvl="0" indent="-342900" marL="342900">
              <a:buAutoNum type="arabicPeriod"/>
            </a:pPr>
            <a:r>
              <a:rPr/>
              <a:t>What do you get when you search </a:t>
            </a:r>
            <a:r>
              <a:rPr i="1"/>
              <a:t>Google Scholar</a:t>
            </a:r>
            <a:r>
              <a:rPr/>
              <a:t> / </a:t>
            </a:r>
            <a:r>
              <a:rPr i="1"/>
              <a:t>library databases</a:t>
            </a:r>
            <a:r>
              <a:rPr/>
              <a:t> for these terms?</a:t>
            </a:r>
          </a:p>
          <a:p>
            <a:pPr lvl="0" indent="-342900" marL="342900">
              <a:buAutoNum type="arabicPeriod"/>
            </a:pPr>
            <a:r>
              <a:rPr/>
              <a:t>Do you have </a:t>
            </a:r>
            <a:r>
              <a:rPr i="1"/>
              <a:t>existing articles</a:t>
            </a:r>
            <a:r>
              <a:rPr/>
              <a:t> / authors to draw from?</a:t>
            </a:r>
          </a:p>
          <a:p>
            <a:pPr lvl="0" indent="-342900" marL="342900">
              <a:buAutoNum type="arabicPeriod"/>
            </a:pPr>
            <a:r>
              <a:rPr/>
              <a:t>What </a:t>
            </a:r>
            <a:r>
              <a:rPr i="1"/>
              <a:t>citation system</a:t>
            </a:r>
            <a:r>
              <a:rPr/>
              <a:t> are you using? Can you code / organize literature in the way you’d like?</a:t>
            </a:r>
          </a:p>
          <a:p>
            <a:pPr lvl="0" indent="-342900" marL="342900">
              <a:buAutoNum type="arabicPeriod"/>
            </a:pPr>
            <a:r>
              <a:rPr/>
              <a:t>What is the best </a:t>
            </a:r>
            <a:r>
              <a:rPr i="1"/>
              <a:t>organization</a:t>
            </a:r>
            <a:r>
              <a:rPr/>
              <a:t> of the literature? Thematic, field (for multi-/interdisciplinary work), chronological, spatial, general / special?</a:t>
            </a:r>
          </a:p>
          <a:p>
            <a:pPr lvl="0" indent="-342900" marL="342900">
              <a:buAutoNum type="arabicPeriod"/>
            </a:pPr>
            <a:r>
              <a:rPr/>
              <a:t>Are there </a:t>
            </a:r>
            <a:r>
              <a:rPr i="1"/>
              <a:t>classics</a:t>
            </a:r>
            <a:r>
              <a:rPr/>
              <a:t> you are expected to cite? References with very large number of citations (e.g. Braun &amp; Clarke 2006; Vaswani et al. 2017; Bender et al. 2021)?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 some sketches: “fast” review</a:t>
            </a:r>
          </a:p>
          <a:p>
            <a:pPr lvl="0"/>
            <a:r>
              <a:rPr b="1"/>
              <a:t>Time</a:t>
            </a:r>
            <a:r>
              <a:rPr/>
              <a:t>, followed by </a:t>
            </a:r>
            <a:r>
              <a:rPr b="1"/>
              <a:t>theme</a:t>
            </a:r>
            <a:r>
              <a:rPr/>
              <a:t>, followed by </a:t>
            </a:r>
            <a:r>
              <a:rPr b="1"/>
              <a:t>space</a:t>
            </a:r>
          </a:p>
          <a:p>
            <a:pPr lvl="0"/>
            <a:r>
              <a:rPr/>
              <a:t>Just be approximate</a:t>
            </a:r>
          </a:p>
          <a:p>
            <a:pPr lvl="0" indent="0" marL="0">
              <a:buNone/>
            </a:pPr>
            <a:r>
              <a:rPr/>
              <a:t>“Criticism of AI </a:t>
            </a:r>
            <a:r>
              <a:rPr b="1"/>
              <a:t>dates back</a:t>
            </a:r>
            <a:r>
              <a:rPr/>
              <a:t> to the inception of the field itself. For example, Dreyfus (1966 - or thereabouts) discussed the brittleness of (etc)… By the early 1980s, scepticism voiced by philosophers such as Searle (1981) in his famous”Chinese room” experiment, contributed to the emergence of an AI winter. </a:t>
            </a:r>
            <a:r>
              <a:rPr b="1"/>
              <a:t>More recently</a:t>
            </a:r>
            <a:r>
              <a:rPr/>
              <a:t>, as generative AI has largely revived the field, criticism has been directed toward both issues of </a:t>
            </a:r>
            <a:r>
              <a:rPr b="1"/>
              <a:t>social justice and bias</a:t>
            </a:r>
            <a:r>
              <a:rPr/>
              <a:t> (e.g. Bender et al. 2021) and potential </a:t>
            </a:r>
            <a:r>
              <a:rPr b="1"/>
              <a:t>existential risk</a:t>
            </a:r>
            <a:r>
              <a:rPr/>
              <a:t> (e.g. lesswrong blog). In some cases, critical AI scholars have also argued the existential case is a convenient disguise that obscures more immediate negative social effects (Gebru and Torres 2024). Moreover scholars from </a:t>
            </a:r>
            <a:r>
              <a:rPr b="1"/>
              <a:t>outside the US</a:t>
            </a:r>
            <a:r>
              <a:rPr/>
              <a:t> - particularly in the Global South – have begun to argue AI constitutes a form of </a:t>
            </a:r>
            <a:r>
              <a:rPr b="1"/>
              <a:t>neocolonialism</a:t>
            </a:r>
            <a:r>
              <a:rPr/>
              <a:t>, impacting digital sovereignty (Keerthiraj, &amp; Misra 2025)”</a:t>
            </a:r>
          </a:p>
          <a:p>
            <a:pPr lvl="0"/>
            <a:r>
              <a:rPr/>
              <a:t>Can work with or without AI - useful just to test how this or that understanding helps make your case (about gaps)</a:t>
            </a:r>
          </a:p>
          <a:p>
            <a:pPr lvl="0"/>
            <a:r>
              <a:rPr/>
              <a:t>Don’t commit to this structure just yet!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Then develop a plan…</a:t>
            </a:r>
          </a:p>
          <a:p>
            <a:pPr lvl="0" indent="-342900" marL="342900">
              <a:buAutoNum type="arabicPeriod"/>
            </a:pPr>
            <a:r>
              <a:rPr/>
              <a:t>Tentative gap - what do you think it is?</a:t>
            </a:r>
          </a:p>
          <a:p>
            <a:pPr lvl="0" indent="-342900" marL="342900">
              <a:buAutoNum type="arabicPeriod"/>
            </a:pPr>
            <a:r>
              <a:rPr/>
              <a:t>Scaffold your review - how many sections? do you need subsections? Add preliminary citations</a:t>
            </a:r>
          </a:p>
          <a:p>
            <a:pPr lvl="0" indent="-342900" marL="342900">
              <a:buAutoNum type="arabicPeriod"/>
            </a:pPr>
            <a:r>
              <a:rPr/>
              <a:t>Develop a sense of key transitions - what’s the drama in the review? “also argued”, “moreover” etc</a:t>
            </a:r>
          </a:p>
          <a:p>
            <a:pPr lvl="0" indent="-342900" marL="342900">
              <a:buAutoNum type="arabicPeriod"/>
            </a:pPr>
            <a:r>
              <a:rPr/>
              <a:t>Be light, noncommital - prepared to cut/paste</a:t>
            </a:r>
          </a:p>
          <a:p>
            <a:pPr lvl="0" indent="-342900" marL="342900">
              <a:buAutoNum type="arabicPeriod"/>
            </a:pPr>
            <a:r>
              <a:rPr/>
              <a:t>As your literature grows, you might need to </a:t>
            </a:r>
            <a:r>
              <a:rPr i="1"/>
              <a:t>qualify</a:t>
            </a:r>
            <a:r>
              <a:rPr/>
              <a:t> the statement of the gap. Maybe there </a:t>
            </a:r>
            <a:r>
              <a:rPr b="1"/>
              <a:t>are</a:t>
            </a:r>
            <a:r>
              <a:rPr/>
              <a:t> studies of the general topic X - but you can add </a:t>
            </a:r>
            <a:r>
              <a:rPr i="1"/>
              <a:t>adjectives</a:t>
            </a:r>
            <a:r>
              <a:rPr/>
              <a:t> to the gap (research question) to narrow it down… Go back to Step 1, rinse and repeat…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Also consider</a:t>
            </a:r>
          </a:p>
          <a:p>
            <a:pPr lvl="0"/>
            <a:r>
              <a:rPr/>
              <a:t>Different perspectives - outside the ordinary frame of discipline, time</a:t>
            </a:r>
          </a:p>
          <a:p>
            <a:pPr lvl="1"/>
            <a:r>
              <a:rPr/>
              <a:t>e.g. “heteroscopia” (“many visions”) - concept by Jaireth (2001) to describe Indian cinema</a:t>
            </a:r>
          </a:p>
          <a:p>
            <a:pPr lvl="1"/>
            <a:r>
              <a:rPr/>
              <a:t>But also a useful term for thinking about machinic vision, generative AI</a:t>
            </a:r>
          </a:p>
          <a:p>
            <a:pPr lvl="0"/>
            <a:r>
              <a:rPr/>
              <a:t>Less-known authors (especially not widely cited) - this can enrich a review, demonstrating greater awareness beyond the same few authors / studies…</a:t>
            </a:r>
          </a:p>
          <a:p>
            <a:pPr lvl="1"/>
            <a:r>
              <a:rPr/>
              <a:t>e.g. History of AI - typically focussed on US developments. But Schmidhuber (1922) argues the importance of developments in Ukraine (USSR), Japan, Finland in the 1960s/70s. Who knew?</a:t>
            </a:r>
          </a:p>
          <a:p>
            <a:pPr lvl="0"/>
            <a:r>
              <a:rPr b="1"/>
              <a:t>In short: surprise us!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Growing your database</a:t>
            </a:r>
          </a:p>
          <a:p>
            <a:pPr lvl="0" indent="0" marL="0">
              <a:buNone/>
            </a:pPr>
            <a:r>
              <a:rPr/>
              <a:t>Different techniques for expanding your database:</a:t>
            </a:r>
          </a:p>
          <a:p>
            <a:pPr lvl="0"/>
            <a:r>
              <a:rPr/>
              <a:t>Search (Google Scholar / library databases)</a:t>
            </a:r>
          </a:p>
          <a:p>
            <a:pPr lvl="0"/>
            <a:r>
              <a:rPr/>
              <a:t>With existing articles:</a:t>
            </a:r>
          </a:p>
          <a:p>
            <a:pPr lvl="1"/>
            <a:r>
              <a:rPr b="1"/>
              <a:t>Go back</a:t>
            </a:r>
            <a:r>
              <a:rPr/>
              <a:t>: Scan </a:t>
            </a:r>
            <a:r>
              <a:rPr i="1"/>
              <a:t>references</a:t>
            </a:r>
            <a:r>
              <a:rPr/>
              <a:t> of this article</a:t>
            </a:r>
          </a:p>
          <a:p>
            <a:pPr lvl="1"/>
            <a:r>
              <a:rPr b="1"/>
              <a:t>Go forward</a:t>
            </a:r>
            <a:r>
              <a:rPr/>
              <a:t>: Search for </a:t>
            </a:r>
            <a:r>
              <a:rPr i="1"/>
              <a:t>citations</a:t>
            </a:r>
            <a:r>
              <a:rPr/>
              <a:t> of this article</a:t>
            </a:r>
          </a:p>
          <a:p>
            <a:pPr lvl="1"/>
            <a:r>
              <a:rPr b="1"/>
              <a:t>Go sideways</a:t>
            </a:r>
            <a:r>
              <a:rPr/>
              <a:t>: What else was published in the same journal / issue</a:t>
            </a:r>
          </a:p>
          <a:p>
            <a:pPr lvl="0"/>
            <a:r>
              <a:rPr/>
              <a:t>Check common “authorities”: Wikipedia, syllabi, AI</a:t>
            </a:r>
          </a:p>
          <a:p>
            <a:pPr lvl="1"/>
            <a:r>
              <a:rPr/>
              <a:t>e.g. “Critical AI” - people will be citing Bender et al. (2021) stochastic parrots paper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This Week’s Activity</a:t>
            </a:r>
          </a:p>
          <a:p>
            <a:pPr lvl="0" indent="-342900" marL="342900">
              <a:buAutoNum type="arabicPeriod"/>
            </a:pPr>
            <a:r>
              <a:rPr/>
              <a:t>Write down the gap (should be close to your research question)</a:t>
            </a:r>
          </a:p>
          <a:p>
            <a:pPr lvl="0" indent="-342900" marL="342900">
              <a:buAutoNum type="arabicPeriod"/>
            </a:pPr>
            <a:r>
              <a:rPr/>
              <a:t>Write down your assumed audience / field. What do you know about them? Do they prefer lots of recent citations (science)? Or fewer, with more emphasis on the classics (philosophy, theory, some qual studies)?</a:t>
            </a:r>
          </a:p>
          <a:p>
            <a:pPr lvl="0" indent="-342900" marL="342900">
              <a:buAutoNum type="arabicPeriod"/>
            </a:pPr>
            <a:r>
              <a:rPr/>
              <a:t>Create a short plan / recipe method:</a:t>
            </a:r>
          </a:p>
          <a:p>
            <a:pPr lvl="1"/>
            <a:r>
              <a:rPr/>
              <a:t>“Search for these terms / filters”</a:t>
            </a:r>
          </a:p>
          <a:p>
            <a:pPr lvl="1"/>
            <a:r>
              <a:rPr/>
              <a:t>“Create a database of 10 articles”</a:t>
            </a:r>
          </a:p>
          <a:p>
            <a:pPr lvl="1"/>
            <a:r>
              <a:rPr/>
              <a:t>“Scan the articles for relevance - discard those that are not relevant”</a:t>
            </a:r>
          </a:p>
          <a:p>
            <a:pPr lvl="1"/>
            <a:r>
              <a:rPr/>
              <a:t>“With remaining articles: review references, search for more recent citations”</a:t>
            </a:r>
          </a:p>
          <a:p>
            <a:pPr lvl="1"/>
            <a:r>
              <a:rPr/>
              <a:t>“Once I have 50 articles: code / annototate for relevance”</a:t>
            </a:r>
          </a:p>
          <a:p>
            <a:pPr lvl="1"/>
            <a:r>
              <a:rPr/>
              <a:t>“Map out review structure; add citations, continue to search under subheadings”</a:t>
            </a:r>
          </a:p>
          <a:p>
            <a:pPr lvl="1"/>
            <a:r>
              <a:rPr/>
              <a:t>“Supply list of refs to AI and ask if I’m missing anything crucial” &lt;!–</a:t>
            </a:r>
          </a:p>
          <a:p>
            <a:pPr lvl="0" indent="-342900" marL="342900">
              <a:buAutoNum type="arabicPeriod"/>
            </a:pPr>
            <a:r>
              <a:rPr/>
              <a:t>Develop a rough structure of headings / subheadings</a:t>
            </a:r>
          </a:p>
          <a:p>
            <a:pPr lvl="0" indent="-342900" marL="342900">
              <a:buAutoNum type="arabicPeriod"/>
            </a:pPr>
            <a:r>
              <a:rPr/>
              <a:t>Lay in some initial citations (if you know them), with indicative transitional language (“also”, “however” etc) –&gt;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Next Week’s Readings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sciencepolicy.colorado.edu</a:t>
            </a:r>
            <a:r>
              <a:rPr/>
              <a:t> 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2025-10-27T21:15:10Z</dcterms:created>
  <dcterms:modified xsi:type="dcterms:W3CDTF">2025-10-27T21:15:10Z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/>
  </property>
</Properties>
</file>